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6" roundtripDataSignature="AMtx7mjXC2zMckfYbOy8Maf5wkk4DCFi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DEEE19-1CEB-4C42-8C1D-B147DBBF3E75}">
  <a:tblStyle styleId="{7DDEEE19-1CEB-4C42-8C1D-B147DBBF3E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Title Slide">
  <p:cSld name="SR - 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52"/>
          <p:cNvSpPr txBox="1"/>
          <p:nvPr>
            <p:ph type="ctrTitle"/>
          </p:nvPr>
        </p:nvSpPr>
        <p:spPr>
          <a:xfrm>
            <a:off x="828260" y="3012819"/>
            <a:ext cx="8087140" cy="706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2"/>
          <p:cNvSpPr txBox="1"/>
          <p:nvPr>
            <p:ph idx="1" type="subTitle"/>
          </p:nvPr>
        </p:nvSpPr>
        <p:spPr>
          <a:xfrm>
            <a:off x="828260" y="3782941"/>
            <a:ext cx="8087140" cy="230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Bullet List">
  <p:cSld name="SR - Bullet Lis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3"/>
          <p:cNvSpPr txBox="1"/>
          <p:nvPr>
            <p:ph type="ctrTitle"/>
          </p:nvPr>
        </p:nvSpPr>
        <p:spPr>
          <a:xfrm>
            <a:off x="828260" y="433043"/>
            <a:ext cx="8805137" cy="9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3"/>
          <p:cNvSpPr txBox="1"/>
          <p:nvPr>
            <p:ph idx="1" type="body"/>
          </p:nvPr>
        </p:nvSpPr>
        <p:spPr>
          <a:xfrm>
            <a:off x="828676" y="1441450"/>
            <a:ext cx="8804722" cy="4639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57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Learning Outcome">
  <p:cSld name="SR - Learning Outcom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4"/>
          <p:cNvSpPr txBox="1"/>
          <p:nvPr>
            <p:ph type="ctrTitle"/>
          </p:nvPr>
        </p:nvSpPr>
        <p:spPr>
          <a:xfrm>
            <a:off x="828260" y="433043"/>
            <a:ext cx="8086725" cy="9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4"/>
          <p:cNvSpPr txBox="1"/>
          <p:nvPr>
            <p:ph idx="1" type="body"/>
          </p:nvPr>
        </p:nvSpPr>
        <p:spPr>
          <a:xfrm>
            <a:off x="828675" y="1441450"/>
            <a:ext cx="8086725" cy="4646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57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Section Divider - Blue">
  <p:cSld name="SR - Section Divider - Blu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5"/>
          <p:cNvSpPr/>
          <p:nvPr/>
        </p:nvSpPr>
        <p:spPr>
          <a:xfrm flipH="1">
            <a:off x="-298516" y="3953427"/>
            <a:ext cx="1738029" cy="2124352"/>
          </a:xfrm>
          <a:custGeom>
            <a:rect b="b" l="l" r="r" t="t"/>
            <a:pathLst>
              <a:path extrusionOk="0" h="2276061" w="790195">
                <a:moveTo>
                  <a:pt x="0" y="1865002"/>
                </a:moveTo>
                <a:lnTo>
                  <a:pt x="790195" y="0"/>
                </a:lnTo>
                <a:lnTo>
                  <a:pt x="611548" y="2276061"/>
                </a:lnTo>
                <a:lnTo>
                  <a:pt x="0" y="1865002"/>
                </a:lnTo>
                <a:close/>
              </a:path>
            </a:pathLst>
          </a:custGeom>
          <a:solidFill>
            <a:srgbClr val="F78B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5"/>
          <p:cNvSpPr txBox="1"/>
          <p:nvPr>
            <p:ph type="title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5"/>
          <p:cNvSpPr txBox="1"/>
          <p:nvPr>
            <p:ph idx="1" type="body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55"/>
          <p:cNvSpPr/>
          <p:nvPr/>
        </p:nvSpPr>
        <p:spPr>
          <a:xfrm>
            <a:off x="9712678" y="5480879"/>
            <a:ext cx="993422" cy="685800"/>
          </a:xfrm>
          <a:custGeom>
            <a:rect b="b" l="l" r="r" t="t"/>
            <a:pathLst>
              <a:path extrusionOk="0" h="1842247" w="2554514">
                <a:moveTo>
                  <a:pt x="0" y="1842247"/>
                </a:moveTo>
                <a:lnTo>
                  <a:pt x="627742" y="0"/>
                </a:lnTo>
                <a:lnTo>
                  <a:pt x="2554514" y="864846"/>
                </a:lnTo>
                <a:lnTo>
                  <a:pt x="0" y="1842247"/>
                </a:lnTo>
                <a:close/>
              </a:path>
            </a:pathLst>
          </a:custGeom>
          <a:solidFill>
            <a:srgbClr val="02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Section Divider -  Turquoise">
  <p:cSld name="SR - Section Divider -  Turquois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6"/>
          <p:cNvSpPr/>
          <p:nvPr/>
        </p:nvSpPr>
        <p:spPr>
          <a:xfrm flipH="1">
            <a:off x="891865" y="4406654"/>
            <a:ext cx="1574242" cy="1190875"/>
          </a:xfrm>
          <a:custGeom>
            <a:rect b="b" l="l" r="r" t="t"/>
            <a:pathLst>
              <a:path extrusionOk="0" h="2197869" w="1063788">
                <a:moveTo>
                  <a:pt x="0" y="2197869"/>
                </a:moveTo>
                <a:lnTo>
                  <a:pt x="1063788" y="0"/>
                </a:lnTo>
                <a:lnTo>
                  <a:pt x="277588" y="457941"/>
                </a:lnTo>
                <a:lnTo>
                  <a:pt x="0" y="2197869"/>
                </a:lnTo>
                <a:close/>
              </a:path>
            </a:pathLst>
          </a:custGeom>
          <a:solidFill>
            <a:srgbClr val="0042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6"/>
          <p:cNvSpPr txBox="1"/>
          <p:nvPr>
            <p:ph type="title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6"/>
          <p:cNvSpPr txBox="1"/>
          <p:nvPr>
            <p:ph idx="1" type="body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6"/>
          <p:cNvSpPr/>
          <p:nvPr/>
        </p:nvSpPr>
        <p:spPr>
          <a:xfrm>
            <a:off x="10571662" y="682932"/>
            <a:ext cx="373430" cy="537493"/>
          </a:xfrm>
          <a:custGeom>
            <a:rect b="b" l="l" r="r" t="t"/>
            <a:pathLst>
              <a:path extrusionOk="0" h="3317887" w="2268346">
                <a:moveTo>
                  <a:pt x="0" y="1780960"/>
                </a:moveTo>
                <a:lnTo>
                  <a:pt x="2268346" y="3317887"/>
                </a:lnTo>
                <a:lnTo>
                  <a:pt x="2197167" y="0"/>
                </a:lnTo>
                <a:lnTo>
                  <a:pt x="0" y="1780960"/>
                </a:lnTo>
                <a:close/>
              </a:path>
            </a:pathLst>
          </a:custGeom>
          <a:solidFill>
            <a:srgbClr val="F78B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2 Column Content">
  <p:cSld name="SR - 2 Column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7"/>
          <p:cNvSpPr txBox="1"/>
          <p:nvPr>
            <p:ph idx="1" type="body"/>
          </p:nvPr>
        </p:nvSpPr>
        <p:spPr>
          <a:xfrm>
            <a:off x="838199" y="1457325"/>
            <a:ext cx="4785411" cy="4623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7"/>
          <p:cNvSpPr txBox="1"/>
          <p:nvPr>
            <p:ph idx="2" type="body"/>
          </p:nvPr>
        </p:nvSpPr>
        <p:spPr>
          <a:xfrm>
            <a:off x="5806388" y="1457325"/>
            <a:ext cx="4785411" cy="4623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57"/>
          <p:cNvSpPr txBox="1"/>
          <p:nvPr>
            <p:ph type="ctrTitle"/>
          </p:nvPr>
        </p:nvSpPr>
        <p:spPr>
          <a:xfrm>
            <a:off x="828260" y="433043"/>
            <a:ext cx="7898859" cy="9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Section Divider - Orange">
  <p:cSld name="SR - Section Divider - Orang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8"/>
          <p:cNvSpPr/>
          <p:nvPr/>
        </p:nvSpPr>
        <p:spPr>
          <a:xfrm flipH="1">
            <a:off x="9738500" y="4950170"/>
            <a:ext cx="1787726" cy="762691"/>
          </a:xfrm>
          <a:custGeom>
            <a:rect b="b" l="l" r="r" t="t"/>
            <a:pathLst>
              <a:path extrusionOk="0" h="817158" w="812790">
                <a:moveTo>
                  <a:pt x="0" y="619079"/>
                </a:moveTo>
                <a:lnTo>
                  <a:pt x="812790" y="0"/>
                </a:lnTo>
                <a:lnTo>
                  <a:pt x="457908" y="817158"/>
                </a:lnTo>
                <a:lnTo>
                  <a:pt x="0" y="619079"/>
                </a:lnTo>
                <a:close/>
              </a:path>
            </a:pathLst>
          </a:custGeom>
          <a:solidFill>
            <a:srgbClr val="02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8"/>
          <p:cNvSpPr txBox="1"/>
          <p:nvPr>
            <p:ph type="title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8"/>
          <p:cNvSpPr txBox="1"/>
          <p:nvPr>
            <p:ph idx="1" type="body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Section Divider - Grey">
  <p:cSld name="SR - Section Divider - Gre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9"/>
          <p:cNvSpPr/>
          <p:nvPr/>
        </p:nvSpPr>
        <p:spPr>
          <a:xfrm flipH="1" rot="-9751601">
            <a:off x="9527013" y="474202"/>
            <a:ext cx="472390" cy="805222"/>
          </a:xfrm>
          <a:custGeom>
            <a:rect b="b" l="l" r="r" t="t"/>
            <a:pathLst>
              <a:path extrusionOk="0" h="1532003" w="461071">
                <a:moveTo>
                  <a:pt x="0" y="715855"/>
                </a:moveTo>
                <a:lnTo>
                  <a:pt x="321084" y="-1"/>
                </a:lnTo>
                <a:lnTo>
                  <a:pt x="461071" y="1532003"/>
                </a:lnTo>
                <a:lnTo>
                  <a:pt x="0" y="715855"/>
                </a:lnTo>
                <a:close/>
              </a:path>
            </a:pathLst>
          </a:custGeom>
          <a:solidFill>
            <a:srgbClr val="F78B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9"/>
          <p:cNvSpPr txBox="1"/>
          <p:nvPr>
            <p:ph type="title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9"/>
          <p:cNvSpPr txBox="1"/>
          <p:nvPr>
            <p:ph idx="1" type="body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59"/>
          <p:cNvSpPr/>
          <p:nvPr/>
        </p:nvSpPr>
        <p:spPr>
          <a:xfrm>
            <a:off x="707224" y="4935933"/>
            <a:ext cx="1158521" cy="959260"/>
          </a:xfrm>
          <a:custGeom>
            <a:rect b="b" l="l" r="r" t="t"/>
            <a:pathLst>
              <a:path extrusionOk="0" h="2576836" w="2979054">
                <a:moveTo>
                  <a:pt x="0" y="1891871"/>
                </a:moveTo>
                <a:lnTo>
                  <a:pt x="2979054" y="0"/>
                </a:lnTo>
                <a:lnTo>
                  <a:pt x="2364508" y="2576836"/>
                </a:lnTo>
                <a:lnTo>
                  <a:pt x="0" y="1891871"/>
                </a:lnTo>
                <a:close/>
              </a:path>
            </a:pathLst>
          </a:custGeom>
          <a:solidFill>
            <a:srgbClr val="02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 Section Divider - Slate Grey">
  <p:cSld name="SR -  Section Divider - Slate Gre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0"/>
          <p:cNvSpPr/>
          <p:nvPr/>
        </p:nvSpPr>
        <p:spPr>
          <a:xfrm flipH="1" rot="-9751601">
            <a:off x="1461556" y="372671"/>
            <a:ext cx="790694" cy="518218"/>
          </a:xfrm>
          <a:custGeom>
            <a:rect b="b" l="l" r="r" t="t"/>
            <a:pathLst>
              <a:path extrusionOk="0" h="985954" w="771749">
                <a:moveTo>
                  <a:pt x="0" y="0"/>
                </a:moveTo>
                <a:lnTo>
                  <a:pt x="771749" y="297601"/>
                </a:lnTo>
                <a:lnTo>
                  <a:pt x="197371" y="985954"/>
                </a:lnTo>
                <a:lnTo>
                  <a:pt x="0" y="0"/>
                </a:lnTo>
                <a:close/>
              </a:path>
            </a:pathLst>
          </a:custGeom>
          <a:solidFill>
            <a:srgbClr val="F78B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0"/>
          <p:cNvSpPr txBox="1"/>
          <p:nvPr>
            <p:ph type="title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0"/>
          <p:cNvSpPr txBox="1"/>
          <p:nvPr>
            <p:ph idx="1" type="body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60"/>
          <p:cNvSpPr/>
          <p:nvPr/>
        </p:nvSpPr>
        <p:spPr>
          <a:xfrm>
            <a:off x="7297880" y="5803233"/>
            <a:ext cx="465924" cy="802241"/>
          </a:xfrm>
          <a:custGeom>
            <a:rect b="b" l="l" r="r" t="t"/>
            <a:pathLst>
              <a:path extrusionOk="0" h="2155039" w="1198090">
                <a:moveTo>
                  <a:pt x="1198090" y="1197149"/>
                </a:moveTo>
                <a:lnTo>
                  <a:pt x="258287" y="0"/>
                </a:lnTo>
                <a:lnTo>
                  <a:pt x="0" y="2155039"/>
                </a:lnTo>
                <a:lnTo>
                  <a:pt x="1198090" y="1197149"/>
                </a:lnTo>
                <a:close/>
              </a:path>
            </a:pathLst>
          </a:custGeom>
          <a:solidFill>
            <a:srgbClr val="0042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End of Slide">
  <p:cSld name="SR - End of Slid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90487" y="3023982"/>
            <a:ext cx="3375150" cy="81003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1"/>
          <p:cNvSpPr txBox="1"/>
          <p:nvPr/>
        </p:nvSpPr>
        <p:spPr>
          <a:xfrm>
            <a:off x="3746002" y="6290421"/>
            <a:ext cx="46999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© National University of Singapore. All Rights Reserved.</a:t>
            </a:r>
            <a:endParaRPr sz="12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Course Title/Cover Slide Demo A">
  <p:cSld name="SR - Course Title/Cover Slide Demo A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62"/>
          <p:cNvSpPr txBox="1"/>
          <p:nvPr>
            <p:ph type="ctrTitle"/>
          </p:nvPr>
        </p:nvSpPr>
        <p:spPr>
          <a:xfrm>
            <a:off x="828260" y="3012819"/>
            <a:ext cx="8087140" cy="706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2"/>
          <p:cNvSpPr txBox="1"/>
          <p:nvPr>
            <p:ph idx="1" type="subTitle"/>
          </p:nvPr>
        </p:nvSpPr>
        <p:spPr>
          <a:xfrm>
            <a:off x="828260" y="3782941"/>
            <a:ext cx="8087140" cy="230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Course Title/Cover Slide Demo B">
  <p:cSld name="SR - Course Title/Cover Slide Demo B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3"/>
          <p:cNvSpPr txBox="1"/>
          <p:nvPr>
            <p:ph type="ctrTitle"/>
          </p:nvPr>
        </p:nvSpPr>
        <p:spPr>
          <a:xfrm>
            <a:off x="828260" y="3012819"/>
            <a:ext cx="8087140" cy="706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3"/>
          <p:cNvSpPr txBox="1"/>
          <p:nvPr>
            <p:ph idx="1" type="subTitle"/>
          </p:nvPr>
        </p:nvSpPr>
        <p:spPr>
          <a:xfrm>
            <a:off x="828260" y="3782941"/>
            <a:ext cx="8087140" cy="230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Course Title/Cover Slide Demo C">
  <p:cSld name="SR - Course Title/Cover Slide Demo C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4"/>
          <p:cNvSpPr txBox="1"/>
          <p:nvPr>
            <p:ph type="ctrTitle"/>
          </p:nvPr>
        </p:nvSpPr>
        <p:spPr>
          <a:xfrm>
            <a:off x="828260" y="3012819"/>
            <a:ext cx="8087140" cy="706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4"/>
          <p:cNvSpPr txBox="1"/>
          <p:nvPr>
            <p:ph idx="1" type="subTitle"/>
          </p:nvPr>
        </p:nvSpPr>
        <p:spPr>
          <a:xfrm>
            <a:off x="828260" y="3782941"/>
            <a:ext cx="8087140" cy="230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Opening Slide - Blue">
  <p:cSld name="SR - Opening Slide - Blu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5"/>
          <p:cNvSpPr txBox="1"/>
          <p:nvPr>
            <p:ph type="title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5"/>
          <p:cNvSpPr txBox="1"/>
          <p:nvPr>
            <p:ph idx="1" type="body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65"/>
          <p:cNvSpPr/>
          <p:nvPr/>
        </p:nvSpPr>
        <p:spPr>
          <a:xfrm>
            <a:off x="8718203" y="6107371"/>
            <a:ext cx="568037" cy="664382"/>
          </a:xfrm>
          <a:custGeom>
            <a:rect b="b" l="l" r="r" t="t"/>
            <a:pathLst>
              <a:path extrusionOk="0" h="7306860" w="5903999">
                <a:moveTo>
                  <a:pt x="1563624" y="0"/>
                </a:moveTo>
                <a:lnTo>
                  <a:pt x="0" y="7306860"/>
                </a:lnTo>
                <a:lnTo>
                  <a:pt x="5903999" y="1246542"/>
                </a:lnTo>
                <a:lnTo>
                  <a:pt x="1563624" y="0"/>
                </a:lnTo>
                <a:close/>
              </a:path>
            </a:pathLst>
          </a:custGeom>
          <a:solidFill>
            <a:srgbClr val="F78B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5"/>
          <p:cNvSpPr/>
          <p:nvPr/>
        </p:nvSpPr>
        <p:spPr>
          <a:xfrm>
            <a:off x="1096645" y="648183"/>
            <a:ext cx="420370" cy="612775"/>
          </a:xfrm>
          <a:custGeom>
            <a:rect b="b" l="l" r="r" t="t"/>
            <a:pathLst>
              <a:path extrusionOk="0" h="612775" w="420370">
                <a:moveTo>
                  <a:pt x="0" y="612775"/>
                </a:moveTo>
                <a:lnTo>
                  <a:pt x="157163" y="0"/>
                </a:lnTo>
                <a:lnTo>
                  <a:pt x="420370" y="389255"/>
                </a:lnTo>
                <a:lnTo>
                  <a:pt x="0" y="612775"/>
                </a:lnTo>
                <a:close/>
              </a:path>
            </a:pathLst>
          </a:custGeom>
          <a:solidFill>
            <a:srgbClr val="02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Section Divider - White">
  <p:cSld name="SR - Section Divider - Whit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6"/>
          <p:cNvSpPr/>
          <p:nvPr/>
        </p:nvSpPr>
        <p:spPr>
          <a:xfrm flipH="1" rot="-9751601">
            <a:off x="249504" y="691048"/>
            <a:ext cx="493441" cy="819258"/>
          </a:xfrm>
          <a:custGeom>
            <a:rect b="b" l="l" r="r" t="t"/>
            <a:pathLst>
              <a:path extrusionOk="0" h="1558708" w="481618">
                <a:moveTo>
                  <a:pt x="0" y="343066"/>
                </a:moveTo>
                <a:lnTo>
                  <a:pt x="478260" y="0"/>
                </a:lnTo>
                <a:cubicBezTo>
                  <a:pt x="479698" y="556611"/>
                  <a:pt x="480180" y="1002097"/>
                  <a:pt x="481618" y="1558708"/>
                </a:cubicBezTo>
                <a:lnTo>
                  <a:pt x="0" y="343066"/>
                </a:lnTo>
                <a:close/>
              </a:path>
            </a:pathLst>
          </a:custGeom>
          <a:solidFill>
            <a:srgbClr val="02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6"/>
          <p:cNvSpPr txBox="1"/>
          <p:nvPr>
            <p:ph type="title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400"/>
              <a:buFont typeface="Calibri"/>
              <a:buNone/>
              <a:defRPr b="1" i="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6"/>
          <p:cNvSpPr txBox="1"/>
          <p:nvPr>
            <p:ph idx="1" type="body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66"/>
          <p:cNvSpPr/>
          <p:nvPr/>
        </p:nvSpPr>
        <p:spPr>
          <a:xfrm>
            <a:off x="7204363" y="6033881"/>
            <a:ext cx="413155" cy="553781"/>
          </a:xfrm>
          <a:custGeom>
            <a:rect b="b" l="l" r="r" t="t"/>
            <a:pathLst>
              <a:path extrusionOk="0" h="3418431" w="2509650">
                <a:moveTo>
                  <a:pt x="1995632" y="0"/>
                </a:moveTo>
                <a:lnTo>
                  <a:pt x="0" y="3418431"/>
                </a:lnTo>
                <a:lnTo>
                  <a:pt x="2509650" y="2438157"/>
                </a:lnTo>
                <a:lnTo>
                  <a:pt x="1995632" y="0"/>
                </a:lnTo>
                <a:close/>
              </a:path>
            </a:pathLst>
          </a:custGeom>
          <a:solidFill>
            <a:srgbClr val="F78B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Headline at Centre">
  <p:cSld name="SR - Headline at Centr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7"/>
          <p:cNvSpPr txBox="1"/>
          <p:nvPr/>
        </p:nvSpPr>
        <p:spPr>
          <a:xfrm>
            <a:off x="828260" y="3012819"/>
            <a:ext cx="8087140" cy="706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</a:pPr>
            <a:r>
              <a:rPr b="1" i="0" lang="en-US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rPr>
              <a:t>Click to add title</a:t>
            </a:r>
            <a:endParaRPr b="1" i="0" sz="4800">
              <a:solidFill>
                <a:srgbClr val="0042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7"/>
          <p:cNvSpPr txBox="1"/>
          <p:nvPr/>
        </p:nvSpPr>
        <p:spPr>
          <a:xfrm>
            <a:off x="828260" y="3782941"/>
            <a:ext cx="8087140" cy="230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Point 1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Point 2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Point 3</a:t>
            </a:r>
            <a:endParaRPr sz="2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Headline at Top">
  <p:cSld name="SR - Headline at Top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8"/>
          <p:cNvSpPr txBox="1"/>
          <p:nvPr>
            <p:ph idx="1" type="subTitle"/>
          </p:nvPr>
        </p:nvSpPr>
        <p:spPr>
          <a:xfrm>
            <a:off x="828260" y="1496170"/>
            <a:ext cx="7898859" cy="442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68"/>
          <p:cNvSpPr txBox="1"/>
          <p:nvPr>
            <p:ph type="ctrTitle"/>
          </p:nvPr>
        </p:nvSpPr>
        <p:spPr>
          <a:xfrm>
            <a:off x="828260" y="433043"/>
            <a:ext cx="7898859" cy="9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Self Intro">
  <p:cSld name="SR - Self Intro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9"/>
          <p:cNvSpPr txBox="1"/>
          <p:nvPr>
            <p:ph type="ctrTitle"/>
          </p:nvPr>
        </p:nvSpPr>
        <p:spPr>
          <a:xfrm>
            <a:off x="828260" y="3012819"/>
            <a:ext cx="8087140" cy="706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9"/>
          <p:cNvSpPr txBox="1"/>
          <p:nvPr>
            <p:ph idx="1" type="subTitle"/>
          </p:nvPr>
        </p:nvSpPr>
        <p:spPr>
          <a:xfrm>
            <a:off x="828260" y="3782941"/>
            <a:ext cx="8087140" cy="230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Course Objectives">
  <p:cSld name="SR - Course Objective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0"/>
          <p:cNvSpPr txBox="1"/>
          <p:nvPr>
            <p:ph type="ctrTitle"/>
          </p:nvPr>
        </p:nvSpPr>
        <p:spPr>
          <a:xfrm>
            <a:off x="828260" y="3012819"/>
            <a:ext cx="8087140" cy="7064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70"/>
          <p:cNvSpPr txBox="1"/>
          <p:nvPr/>
        </p:nvSpPr>
        <p:spPr>
          <a:xfrm>
            <a:off x="828260" y="3782941"/>
            <a:ext cx="8087140" cy="230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Insert your course objective summary</a:t>
            </a:r>
            <a:endParaRPr sz="2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- Agenda Slide">
  <p:cSld name="SR- Agenda Slid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" name="Google Shape;102;p71"/>
          <p:cNvGraphicFramePr/>
          <p:nvPr/>
        </p:nvGraphicFramePr>
        <p:xfrm>
          <a:off x="828260" y="1346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{7DDEEE19-1CEB-4C42-8C1D-B147DBBF3E75}</a:tableStyleId>
              </a:tblPr>
              <a:tblGrid>
                <a:gridCol w="4219525"/>
                <a:gridCol w="4194550"/>
              </a:tblGrid>
              <a:tr h="6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0042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004282"/>
                    </a:solidFill>
                  </a:tcPr>
                </a:tc>
              </a:tr>
              <a:tr h="199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lt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199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lt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3" name="Google Shape;103;p71"/>
          <p:cNvSpPr txBox="1"/>
          <p:nvPr>
            <p:ph idx="1" type="body"/>
          </p:nvPr>
        </p:nvSpPr>
        <p:spPr>
          <a:xfrm>
            <a:off x="791463" y="1378423"/>
            <a:ext cx="4226586" cy="609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71"/>
          <p:cNvSpPr txBox="1"/>
          <p:nvPr>
            <p:ph idx="2" type="body"/>
          </p:nvPr>
        </p:nvSpPr>
        <p:spPr>
          <a:xfrm>
            <a:off x="856677" y="2032043"/>
            <a:ext cx="4161372" cy="1972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71"/>
          <p:cNvSpPr txBox="1"/>
          <p:nvPr>
            <p:ph idx="3" type="body"/>
          </p:nvPr>
        </p:nvSpPr>
        <p:spPr>
          <a:xfrm>
            <a:off x="856677" y="4004323"/>
            <a:ext cx="4161372" cy="2017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71"/>
          <p:cNvSpPr txBox="1"/>
          <p:nvPr>
            <p:ph idx="4" type="body"/>
          </p:nvPr>
        </p:nvSpPr>
        <p:spPr>
          <a:xfrm>
            <a:off x="5080967" y="1378423"/>
            <a:ext cx="4161372" cy="609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71"/>
          <p:cNvSpPr txBox="1"/>
          <p:nvPr>
            <p:ph idx="5" type="body"/>
          </p:nvPr>
        </p:nvSpPr>
        <p:spPr>
          <a:xfrm>
            <a:off x="5080967" y="2019707"/>
            <a:ext cx="4161372" cy="1967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71"/>
          <p:cNvSpPr txBox="1"/>
          <p:nvPr>
            <p:ph idx="6" type="body"/>
          </p:nvPr>
        </p:nvSpPr>
        <p:spPr>
          <a:xfrm>
            <a:off x="5080967" y="4020381"/>
            <a:ext cx="4161372" cy="2017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71"/>
          <p:cNvSpPr txBox="1"/>
          <p:nvPr>
            <p:ph type="ctrTitle"/>
          </p:nvPr>
        </p:nvSpPr>
        <p:spPr>
          <a:xfrm>
            <a:off x="828260" y="433043"/>
            <a:ext cx="7898859" cy="9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Single Photo">
  <p:cSld name="SR - Single Photo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2"/>
          <p:cNvSpPr txBox="1"/>
          <p:nvPr>
            <p:ph type="ctrTitle"/>
          </p:nvPr>
        </p:nvSpPr>
        <p:spPr>
          <a:xfrm>
            <a:off x="828260" y="433043"/>
            <a:ext cx="7898859" cy="9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72"/>
          <p:cNvSpPr/>
          <p:nvPr>
            <p:ph idx="2" type="pic"/>
          </p:nvPr>
        </p:nvSpPr>
        <p:spPr>
          <a:xfrm>
            <a:off x="828260" y="1441451"/>
            <a:ext cx="7898859" cy="464642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Single Pht Fullscreen">
  <p:cSld name="SR - Single Pht Fullscree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4 Circle Icons - Orange">
  <p:cSld name="SR - 4 Circle Icons - Orang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90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4"/>
          <p:cNvSpPr txBox="1"/>
          <p:nvPr>
            <p:ph type="ctrTitle"/>
          </p:nvPr>
        </p:nvSpPr>
        <p:spPr>
          <a:xfrm>
            <a:off x="828260" y="433043"/>
            <a:ext cx="7898859" cy="9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74"/>
          <p:cNvSpPr/>
          <p:nvPr/>
        </p:nvSpPr>
        <p:spPr>
          <a:xfrm>
            <a:off x="1056866" y="1568811"/>
            <a:ext cx="2156791" cy="2156791"/>
          </a:xfrm>
          <a:prstGeom prst="ellipse">
            <a:avLst/>
          </a:prstGeom>
          <a:solidFill>
            <a:srgbClr val="F78B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4"/>
          <p:cNvSpPr/>
          <p:nvPr>
            <p:ph idx="2" type="pic"/>
          </p:nvPr>
        </p:nvSpPr>
        <p:spPr>
          <a:xfrm>
            <a:off x="1275896" y="2003476"/>
            <a:ext cx="1718733" cy="1287463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74"/>
          <p:cNvSpPr/>
          <p:nvPr/>
        </p:nvSpPr>
        <p:spPr>
          <a:xfrm>
            <a:off x="6276566" y="1568811"/>
            <a:ext cx="2156791" cy="2156791"/>
          </a:xfrm>
          <a:prstGeom prst="ellipse">
            <a:avLst/>
          </a:prstGeom>
          <a:solidFill>
            <a:srgbClr val="F78B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4"/>
          <p:cNvSpPr/>
          <p:nvPr>
            <p:ph idx="3" type="pic"/>
          </p:nvPr>
        </p:nvSpPr>
        <p:spPr>
          <a:xfrm>
            <a:off x="6495596" y="2003476"/>
            <a:ext cx="1718733" cy="1287463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74"/>
          <p:cNvSpPr/>
          <p:nvPr/>
        </p:nvSpPr>
        <p:spPr>
          <a:xfrm>
            <a:off x="3647666" y="1568811"/>
            <a:ext cx="2156791" cy="2156791"/>
          </a:xfrm>
          <a:prstGeom prst="ellipse">
            <a:avLst/>
          </a:prstGeom>
          <a:solidFill>
            <a:srgbClr val="F78B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4"/>
          <p:cNvSpPr/>
          <p:nvPr>
            <p:ph idx="4" type="pic"/>
          </p:nvPr>
        </p:nvSpPr>
        <p:spPr>
          <a:xfrm>
            <a:off x="3866696" y="2003476"/>
            <a:ext cx="1718733" cy="1287463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74"/>
          <p:cNvSpPr/>
          <p:nvPr/>
        </p:nvSpPr>
        <p:spPr>
          <a:xfrm>
            <a:off x="8956266" y="1568811"/>
            <a:ext cx="2156791" cy="2156791"/>
          </a:xfrm>
          <a:prstGeom prst="ellipse">
            <a:avLst/>
          </a:prstGeom>
          <a:solidFill>
            <a:srgbClr val="F78B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4"/>
          <p:cNvSpPr/>
          <p:nvPr>
            <p:ph idx="5" type="pic"/>
          </p:nvPr>
        </p:nvSpPr>
        <p:spPr>
          <a:xfrm>
            <a:off x="9175296" y="2003476"/>
            <a:ext cx="1718733" cy="1287463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74"/>
          <p:cNvSpPr txBox="1"/>
          <p:nvPr>
            <p:ph idx="1" type="body"/>
          </p:nvPr>
        </p:nvSpPr>
        <p:spPr>
          <a:xfrm>
            <a:off x="1090396" y="3962401"/>
            <a:ext cx="2156792" cy="2125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74"/>
          <p:cNvSpPr txBox="1"/>
          <p:nvPr>
            <p:ph idx="6" type="body"/>
          </p:nvPr>
        </p:nvSpPr>
        <p:spPr>
          <a:xfrm>
            <a:off x="6310096" y="3962401"/>
            <a:ext cx="2156792" cy="2125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74"/>
          <p:cNvSpPr txBox="1"/>
          <p:nvPr>
            <p:ph idx="7" type="body"/>
          </p:nvPr>
        </p:nvSpPr>
        <p:spPr>
          <a:xfrm>
            <a:off x="3681196" y="3962401"/>
            <a:ext cx="2156792" cy="2125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74"/>
          <p:cNvSpPr txBox="1"/>
          <p:nvPr>
            <p:ph idx="8" type="body"/>
          </p:nvPr>
        </p:nvSpPr>
        <p:spPr>
          <a:xfrm>
            <a:off x="8989796" y="3962401"/>
            <a:ext cx="2156792" cy="2125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4 Circle Icons - Blue">
  <p:cSld name="SR - 4 Circle Icons - Blu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5"/>
          <p:cNvSpPr txBox="1"/>
          <p:nvPr>
            <p:ph type="ctrTitle"/>
          </p:nvPr>
        </p:nvSpPr>
        <p:spPr>
          <a:xfrm>
            <a:off x="828260" y="433043"/>
            <a:ext cx="7898859" cy="9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75"/>
          <p:cNvSpPr txBox="1"/>
          <p:nvPr>
            <p:ph idx="1" type="body"/>
          </p:nvPr>
        </p:nvSpPr>
        <p:spPr>
          <a:xfrm>
            <a:off x="1090396" y="3962403"/>
            <a:ext cx="2156792" cy="2125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75"/>
          <p:cNvSpPr/>
          <p:nvPr/>
        </p:nvSpPr>
        <p:spPr>
          <a:xfrm>
            <a:off x="1056866" y="1568811"/>
            <a:ext cx="2156791" cy="2156791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5"/>
          <p:cNvSpPr/>
          <p:nvPr>
            <p:ph idx="2" type="pic"/>
          </p:nvPr>
        </p:nvSpPr>
        <p:spPr>
          <a:xfrm>
            <a:off x="1275896" y="2003476"/>
            <a:ext cx="1718733" cy="1287463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75"/>
          <p:cNvSpPr txBox="1"/>
          <p:nvPr>
            <p:ph idx="3" type="body"/>
          </p:nvPr>
        </p:nvSpPr>
        <p:spPr>
          <a:xfrm>
            <a:off x="6310096" y="3962401"/>
            <a:ext cx="2156792" cy="2448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" name="Google Shape;137;p75"/>
          <p:cNvSpPr/>
          <p:nvPr/>
        </p:nvSpPr>
        <p:spPr>
          <a:xfrm>
            <a:off x="6276566" y="1568811"/>
            <a:ext cx="2156791" cy="2156791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5"/>
          <p:cNvSpPr/>
          <p:nvPr>
            <p:ph idx="4" type="pic"/>
          </p:nvPr>
        </p:nvSpPr>
        <p:spPr>
          <a:xfrm>
            <a:off x="6495596" y="2003476"/>
            <a:ext cx="1718733" cy="1287463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75"/>
          <p:cNvSpPr txBox="1"/>
          <p:nvPr>
            <p:ph idx="5" type="body"/>
          </p:nvPr>
        </p:nvSpPr>
        <p:spPr>
          <a:xfrm>
            <a:off x="3681196" y="3962401"/>
            <a:ext cx="2156792" cy="2448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75"/>
          <p:cNvSpPr/>
          <p:nvPr/>
        </p:nvSpPr>
        <p:spPr>
          <a:xfrm>
            <a:off x="3647666" y="1568811"/>
            <a:ext cx="2156791" cy="2156791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5"/>
          <p:cNvSpPr/>
          <p:nvPr>
            <p:ph idx="6" type="pic"/>
          </p:nvPr>
        </p:nvSpPr>
        <p:spPr>
          <a:xfrm>
            <a:off x="3866696" y="2003476"/>
            <a:ext cx="1718733" cy="1287463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75"/>
          <p:cNvSpPr txBox="1"/>
          <p:nvPr>
            <p:ph idx="7" type="body"/>
          </p:nvPr>
        </p:nvSpPr>
        <p:spPr>
          <a:xfrm>
            <a:off x="8989796" y="3962401"/>
            <a:ext cx="2156792" cy="2448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75"/>
          <p:cNvSpPr/>
          <p:nvPr/>
        </p:nvSpPr>
        <p:spPr>
          <a:xfrm>
            <a:off x="8956266" y="1568811"/>
            <a:ext cx="2156791" cy="2156791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5"/>
          <p:cNvSpPr/>
          <p:nvPr>
            <p:ph idx="8" type="pic"/>
          </p:nvPr>
        </p:nvSpPr>
        <p:spPr>
          <a:xfrm>
            <a:off x="9175296" y="2003476"/>
            <a:ext cx="1718733" cy="128746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4 Circle Icons - Turqoiuse">
  <p:cSld name="SR - 4 Circle Icons - Turqoiuse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6"/>
          <p:cNvSpPr txBox="1"/>
          <p:nvPr>
            <p:ph type="ctrTitle"/>
          </p:nvPr>
        </p:nvSpPr>
        <p:spPr>
          <a:xfrm>
            <a:off x="828260" y="433043"/>
            <a:ext cx="7898859" cy="9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76"/>
          <p:cNvSpPr/>
          <p:nvPr/>
        </p:nvSpPr>
        <p:spPr>
          <a:xfrm>
            <a:off x="1056866" y="1568811"/>
            <a:ext cx="2156791" cy="2156791"/>
          </a:xfrm>
          <a:prstGeom prst="ellipse">
            <a:avLst/>
          </a:prstGeom>
          <a:solidFill>
            <a:srgbClr val="02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6"/>
          <p:cNvSpPr/>
          <p:nvPr>
            <p:ph idx="2" type="pic"/>
          </p:nvPr>
        </p:nvSpPr>
        <p:spPr>
          <a:xfrm>
            <a:off x="1275896" y="2003476"/>
            <a:ext cx="1718733" cy="1287463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76"/>
          <p:cNvSpPr/>
          <p:nvPr/>
        </p:nvSpPr>
        <p:spPr>
          <a:xfrm>
            <a:off x="6276566" y="1568811"/>
            <a:ext cx="2156791" cy="2156791"/>
          </a:xfrm>
          <a:prstGeom prst="ellipse">
            <a:avLst/>
          </a:prstGeom>
          <a:solidFill>
            <a:srgbClr val="02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6"/>
          <p:cNvSpPr/>
          <p:nvPr>
            <p:ph idx="3" type="pic"/>
          </p:nvPr>
        </p:nvSpPr>
        <p:spPr>
          <a:xfrm>
            <a:off x="6495596" y="2003476"/>
            <a:ext cx="1718733" cy="1287463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76"/>
          <p:cNvSpPr/>
          <p:nvPr/>
        </p:nvSpPr>
        <p:spPr>
          <a:xfrm>
            <a:off x="3647666" y="1568811"/>
            <a:ext cx="2156791" cy="2156791"/>
          </a:xfrm>
          <a:prstGeom prst="ellipse">
            <a:avLst/>
          </a:prstGeom>
          <a:solidFill>
            <a:srgbClr val="02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6"/>
          <p:cNvSpPr/>
          <p:nvPr>
            <p:ph idx="4" type="pic"/>
          </p:nvPr>
        </p:nvSpPr>
        <p:spPr>
          <a:xfrm>
            <a:off x="3866696" y="2003476"/>
            <a:ext cx="1718733" cy="1287463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76"/>
          <p:cNvSpPr/>
          <p:nvPr/>
        </p:nvSpPr>
        <p:spPr>
          <a:xfrm>
            <a:off x="8956266" y="1568811"/>
            <a:ext cx="2156791" cy="2156791"/>
          </a:xfrm>
          <a:prstGeom prst="ellipse">
            <a:avLst/>
          </a:prstGeom>
          <a:solidFill>
            <a:srgbClr val="02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6"/>
          <p:cNvSpPr/>
          <p:nvPr>
            <p:ph idx="5" type="pic"/>
          </p:nvPr>
        </p:nvSpPr>
        <p:spPr>
          <a:xfrm>
            <a:off x="9175296" y="2003476"/>
            <a:ext cx="1718733" cy="1287463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76"/>
          <p:cNvSpPr txBox="1"/>
          <p:nvPr>
            <p:ph idx="1" type="body"/>
          </p:nvPr>
        </p:nvSpPr>
        <p:spPr>
          <a:xfrm>
            <a:off x="1090396" y="3962401"/>
            <a:ext cx="2156792" cy="2125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p76"/>
          <p:cNvSpPr txBox="1"/>
          <p:nvPr>
            <p:ph idx="6" type="body"/>
          </p:nvPr>
        </p:nvSpPr>
        <p:spPr>
          <a:xfrm>
            <a:off x="6310096" y="3962401"/>
            <a:ext cx="2156792" cy="2125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76"/>
          <p:cNvSpPr txBox="1"/>
          <p:nvPr>
            <p:ph idx="7" type="body"/>
          </p:nvPr>
        </p:nvSpPr>
        <p:spPr>
          <a:xfrm>
            <a:off x="3681196" y="3962401"/>
            <a:ext cx="2156792" cy="2125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76"/>
          <p:cNvSpPr txBox="1"/>
          <p:nvPr>
            <p:ph idx="8" type="body"/>
          </p:nvPr>
        </p:nvSpPr>
        <p:spPr>
          <a:xfrm>
            <a:off x="8989796" y="3962401"/>
            <a:ext cx="2156792" cy="2125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 3 Blocks">
  <p:cSld name="SR -  3 Blocks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7"/>
          <p:cNvSpPr/>
          <p:nvPr/>
        </p:nvSpPr>
        <p:spPr>
          <a:xfrm>
            <a:off x="753707" y="1684422"/>
            <a:ext cx="3492555" cy="4427621"/>
          </a:xfrm>
          <a:prstGeom prst="roundRect">
            <a:avLst>
              <a:gd fmla="val 16667" name="adj"/>
            </a:avLst>
          </a:prstGeom>
          <a:solidFill>
            <a:srgbClr val="0042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7"/>
          <p:cNvSpPr txBox="1"/>
          <p:nvPr>
            <p:ph idx="1" type="body"/>
          </p:nvPr>
        </p:nvSpPr>
        <p:spPr>
          <a:xfrm>
            <a:off x="964347" y="2565315"/>
            <a:ext cx="2977255" cy="2608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77"/>
          <p:cNvSpPr/>
          <p:nvPr/>
        </p:nvSpPr>
        <p:spPr>
          <a:xfrm>
            <a:off x="4338197" y="1684422"/>
            <a:ext cx="3492555" cy="4427621"/>
          </a:xfrm>
          <a:prstGeom prst="roundRect">
            <a:avLst>
              <a:gd fmla="val 16667" name="adj"/>
            </a:avLst>
          </a:prstGeom>
          <a:solidFill>
            <a:srgbClr val="0042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7"/>
          <p:cNvSpPr txBox="1"/>
          <p:nvPr>
            <p:ph idx="2" type="body"/>
          </p:nvPr>
        </p:nvSpPr>
        <p:spPr>
          <a:xfrm>
            <a:off x="4548836" y="2565315"/>
            <a:ext cx="2977255" cy="2608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77"/>
          <p:cNvSpPr/>
          <p:nvPr/>
        </p:nvSpPr>
        <p:spPr>
          <a:xfrm>
            <a:off x="1725425" y="1684422"/>
            <a:ext cx="1549118" cy="132346"/>
          </a:xfrm>
          <a:prstGeom prst="rect">
            <a:avLst/>
          </a:prstGeom>
          <a:solidFill>
            <a:srgbClr val="02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7"/>
          <p:cNvSpPr/>
          <p:nvPr/>
        </p:nvSpPr>
        <p:spPr>
          <a:xfrm>
            <a:off x="5309915" y="1684422"/>
            <a:ext cx="1549118" cy="132346"/>
          </a:xfrm>
          <a:prstGeom prst="rect">
            <a:avLst/>
          </a:prstGeom>
          <a:solidFill>
            <a:srgbClr val="F78B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7"/>
          <p:cNvSpPr txBox="1"/>
          <p:nvPr>
            <p:ph type="ctrTitle"/>
          </p:nvPr>
        </p:nvSpPr>
        <p:spPr>
          <a:xfrm>
            <a:off x="828260" y="433043"/>
            <a:ext cx="7898859" cy="9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77"/>
          <p:cNvSpPr/>
          <p:nvPr/>
        </p:nvSpPr>
        <p:spPr>
          <a:xfrm>
            <a:off x="7916507" y="1684422"/>
            <a:ext cx="3492555" cy="4427621"/>
          </a:xfrm>
          <a:prstGeom prst="roundRect">
            <a:avLst>
              <a:gd fmla="val 16667" name="adj"/>
            </a:avLst>
          </a:prstGeom>
          <a:solidFill>
            <a:srgbClr val="0042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7"/>
          <p:cNvSpPr txBox="1"/>
          <p:nvPr>
            <p:ph idx="3" type="body"/>
          </p:nvPr>
        </p:nvSpPr>
        <p:spPr>
          <a:xfrm>
            <a:off x="8127147" y="2565315"/>
            <a:ext cx="2977255" cy="2608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1" name="Google Shape;171;p77"/>
          <p:cNvSpPr/>
          <p:nvPr/>
        </p:nvSpPr>
        <p:spPr>
          <a:xfrm>
            <a:off x="8888225" y="1684422"/>
            <a:ext cx="1549118" cy="132346"/>
          </a:xfrm>
          <a:prstGeom prst="rect">
            <a:avLst/>
          </a:prstGeom>
          <a:solidFill>
            <a:srgbClr val="02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Single Photo w/ Bullets">
  <p:cSld name="SR - Single Photo w/ Bullets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8"/>
          <p:cNvSpPr txBox="1"/>
          <p:nvPr>
            <p:ph type="ctrTitle"/>
          </p:nvPr>
        </p:nvSpPr>
        <p:spPr>
          <a:xfrm>
            <a:off x="828260" y="433043"/>
            <a:ext cx="7898859" cy="9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Calibri"/>
              <a:buNone/>
              <a:defRPr b="1" i="0" sz="4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78"/>
          <p:cNvSpPr/>
          <p:nvPr>
            <p:ph idx="2" type="pic"/>
          </p:nvPr>
        </p:nvSpPr>
        <p:spPr>
          <a:xfrm>
            <a:off x="927100" y="1441451"/>
            <a:ext cx="3986871" cy="4646427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78"/>
          <p:cNvSpPr txBox="1"/>
          <p:nvPr>
            <p:ph idx="1" type="body"/>
          </p:nvPr>
        </p:nvSpPr>
        <p:spPr>
          <a:xfrm>
            <a:off x="5004026" y="1441451"/>
            <a:ext cx="4296091" cy="4646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57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78"/>
          <p:cNvSpPr txBox="1"/>
          <p:nvPr>
            <p:ph idx="3" type="body"/>
          </p:nvPr>
        </p:nvSpPr>
        <p:spPr>
          <a:xfrm>
            <a:off x="1090396" y="3962401"/>
            <a:ext cx="2156792" cy="2125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2 Photos w/ bullet list">
  <p:cSld name="SR - 2 Photos w/ bullet lis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9"/>
          <p:cNvSpPr txBox="1"/>
          <p:nvPr>
            <p:ph type="ctrTitle"/>
          </p:nvPr>
        </p:nvSpPr>
        <p:spPr>
          <a:xfrm>
            <a:off x="828260" y="433043"/>
            <a:ext cx="7898859" cy="9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79"/>
          <p:cNvSpPr/>
          <p:nvPr>
            <p:ph idx="2" type="pic"/>
          </p:nvPr>
        </p:nvSpPr>
        <p:spPr>
          <a:xfrm>
            <a:off x="927100" y="1441450"/>
            <a:ext cx="5168900" cy="2223584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79"/>
          <p:cNvSpPr txBox="1"/>
          <p:nvPr>
            <p:ph idx="1" type="body"/>
          </p:nvPr>
        </p:nvSpPr>
        <p:spPr>
          <a:xfrm>
            <a:off x="6215792" y="1441451"/>
            <a:ext cx="3255310" cy="222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57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79"/>
          <p:cNvSpPr txBox="1"/>
          <p:nvPr>
            <p:ph idx="3" type="body"/>
          </p:nvPr>
        </p:nvSpPr>
        <p:spPr>
          <a:xfrm>
            <a:off x="6215792" y="3761541"/>
            <a:ext cx="3255310" cy="2319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57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79"/>
          <p:cNvSpPr/>
          <p:nvPr>
            <p:ph idx="4" type="pic"/>
          </p:nvPr>
        </p:nvSpPr>
        <p:spPr>
          <a:xfrm>
            <a:off x="927100" y="3761541"/>
            <a:ext cx="5168900" cy="231959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 - Bullet List Annotation wo Presenter">
  <p:cSld name="SR - Bullet List Annotation wo Presenter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0"/>
          <p:cNvSpPr txBox="1"/>
          <p:nvPr>
            <p:ph type="ctrTitle"/>
          </p:nvPr>
        </p:nvSpPr>
        <p:spPr>
          <a:xfrm>
            <a:off x="828261" y="433043"/>
            <a:ext cx="8431650" cy="9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80"/>
          <p:cNvSpPr txBox="1"/>
          <p:nvPr>
            <p:ph idx="1" type="body"/>
          </p:nvPr>
        </p:nvSpPr>
        <p:spPr>
          <a:xfrm>
            <a:off x="828676" y="1441450"/>
            <a:ext cx="8431236" cy="4639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57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ference for Logo/Copyright">
  <p:cSld name="Reference for Logo/Copyrigh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1"/>
          <p:cNvSpPr txBox="1"/>
          <p:nvPr>
            <p:ph type="ctrTitle"/>
          </p:nvPr>
        </p:nvSpPr>
        <p:spPr>
          <a:xfrm>
            <a:off x="828261" y="433043"/>
            <a:ext cx="8431650" cy="9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800"/>
              <a:buFont typeface="Calibri"/>
              <a:buNone/>
              <a:defRPr b="1" i="0" sz="4800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81"/>
          <p:cNvSpPr txBox="1"/>
          <p:nvPr>
            <p:ph idx="1" type="body"/>
          </p:nvPr>
        </p:nvSpPr>
        <p:spPr>
          <a:xfrm>
            <a:off x="828676" y="1441450"/>
            <a:ext cx="8431236" cy="4639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57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282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93" name="Google Shape;193;p81"/>
          <p:cNvPicPr preferRelativeResize="0"/>
          <p:nvPr/>
        </p:nvPicPr>
        <p:blipFill rotWithShape="1">
          <a:blip r:embed="rId3">
            <a:alphaModFix/>
          </a:blip>
          <a:srcRect b="0" l="-793" r="-3531" t="0"/>
          <a:stretch/>
        </p:blipFill>
        <p:spPr>
          <a:xfrm>
            <a:off x="9619614" y="222027"/>
            <a:ext cx="2445972" cy="56270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1"/>
          <p:cNvSpPr/>
          <p:nvPr/>
        </p:nvSpPr>
        <p:spPr>
          <a:xfrm>
            <a:off x="136477" y="6041837"/>
            <a:ext cx="169246" cy="169246"/>
          </a:xfrm>
          <a:prstGeom prst="ellipse">
            <a:avLst/>
          </a:prstGeom>
          <a:solidFill>
            <a:srgbClr val="F78B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1"/>
          <p:cNvSpPr/>
          <p:nvPr/>
        </p:nvSpPr>
        <p:spPr>
          <a:xfrm>
            <a:off x="136477" y="6300468"/>
            <a:ext cx="169246" cy="169246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1"/>
          <p:cNvSpPr/>
          <p:nvPr/>
        </p:nvSpPr>
        <p:spPr>
          <a:xfrm>
            <a:off x="136477" y="6559100"/>
            <a:ext cx="169246" cy="169246"/>
          </a:xfrm>
          <a:prstGeom prst="ellipse">
            <a:avLst/>
          </a:prstGeom>
          <a:solidFill>
            <a:srgbClr val="02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1"/>
          <p:cNvSpPr txBox="1"/>
          <p:nvPr/>
        </p:nvSpPr>
        <p:spPr>
          <a:xfrm>
            <a:off x="591287" y="6512093"/>
            <a:ext cx="36549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© National University of Singapore. All Rights Reserved.</a:t>
            </a:r>
            <a:endParaRPr sz="12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1"/>
          <p:cNvSpPr/>
          <p:nvPr>
            <p:ph idx="2" type="pic"/>
          </p:nvPr>
        </p:nvSpPr>
        <p:spPr>
          <a:xfrm>
            <a:off x="927100" y="3761541"/>
            <a:ext cx="5168900" cy="2319591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81"/>
          <p:cNvSpPr txBox="1"/>
          <p:nvPr/>
        </p:nvSpPr>
        <p:spPr>
          <a:xfrm>
            <a:off x="4449219" y="6115802"/>
            <a:ext cx="30554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CAPTIONS</a:t>
            </a:r>
            <a:endParaRPr/>
          </a:p>
        </p:txBody>
      </p:sp>
      <p:pic>
        <p:nvPicPr>
          <p:cNvPr descr="A cartoon of a person wearing glasses&#10;&#10;AI-generated content may be incorrect." id="200" name="Google Shape;200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3267" y="4296935"/>
            <a:ext cx="2352319" cy="2668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/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42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medium.com/redis-with-raphael-de-lio/openclaw-is-going-enterprise-rfc-27-redis-agent-file-system-dfe256c3b12f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hermes-agent.nousresearch.com/docs/user-storie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"/>
          <p:cNvSpPr txBox="1"/>
          <p:nvPr>
            <p:ph type="ctrTitle"/>
          </p:nvPr>
        </p:nvSpPr>
        <p:spPr>
          <a:xfrm>
            <a:off x="841248" y="26974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000"/>
              <a:buFont typeface="Arial"/>
              <a:buNone/>
              <a:defRPr/>
            </a:pPr>
            <a:r>
              <a:rPr b="1" i="0" lang="en-US" sz="4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Building Autonomous AI Agents</a:t>
            </a:r>
            <a:endParaRPr/>
          </a:p>
        </p:txBody>
      </p:sp>
      <p:sp>
        <p:nvSpPr>
          <p:cNvPr id="206" name="Google Shape;206;p1"/>
          <p:cNvSpPr txBox="1"/>
          <p:nvPr>
            <p:ph idx="1" type="subTitle"/>
          </p:nvPr>
        </p:nvSpPr>
        <p:spPr>
          <a:xfrm>
            <a:off x="841248" y="3703320"/>
            <a:ext cx="10515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2600"/>
              <a:buNone/>
              <a:defRPr/>
            </a:pPr>
            <a:r>
              <a:rPr b="1" i="0" lang="en-US" sz="26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OpenClaw, Hermes &amp; NanoClaw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343F"/>
              </a:buClr>
              <a:buSzPts val="1600"/>
              <a:buNone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Orchestration · Models · Edge · Heartbeats · Skills · Channels · A2A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7B8898"/>
              </a:buClr>
              <a:buSzPts val="1300"/>
              <a:buNone/>
              <a:defRPr/>
            </a:pPr>
            <a:r>
              <a:rPr b="0" i="0" lang="en-US" sz="18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Audience: working professionals / graduate learners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Where Today Fits: The Three-Day Progression</a:t>
            </a:r>
            <a:endParaRPr/>
          </a:p>
        </p:txBody>
      </p:sp>
      <p:sp>
        <p:nvSpPr>
          <p:cNvPr id="212" name="Google Shape;212;p2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 u="none" cap="none" strike="noStrike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COURSE CONTEXT</a:t>
            </a:r>
            <a:endParaRPr/>
          </a:p>
        </p:txBody>
      </p:sp>
      <p:sp>
        <p:nvSpPr>
          <p:cNvPr id="213" name="Google Shape;213;p2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214" name="Google Shape;214;p2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15" name="Google Shape;215;p2"/>
          <p:cNvSpPr/>
          <p:nvPr/>
        </p:nvSpPr>
        <p:spPr>
          <a:xfrm>
            <a:off x="841248" y="1481328"/>
            <a:ext cx="3246120" cy="822960"/>
          </a:xfrm>
          <a:prstGeom prst="roundRect">
            <a:avLst>
              <a:gd fmla="val 14000" name="adj"/>
            </a:avLst>
          </a:prstGeom>
          <a:solidFill>
            <a:srgbClr val="00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1600"/>
              <a:buFont typeface="Arial"/>
              <a:buNone/>
              <a:defRPr/>
            </a:pPr>
            <a:r>
              <a:rPr b="1" i="0" lang="en-US" sz="1800" u="none" cap="none" strike="noStrike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Build an Agent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1250"/>
              <a:buFont typeface="Arial"/>
              <a:buNone/>
              <a:defRPr/>
            </a:pPr>
            <a:r>
              <a:rPr b="0" i="0" lang="en-US" sz="1250" u="none" cap="none" strike="noStrike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DAY 1</a:t>
            </a:r>
            <a:endParaRPr/>
          </a:p>
        </p:txBody>
      </p:sp>
      <p:sp>
        <p:nvSpPr>
          <p:cNvPr id="216" name="Google Shape;216;p2"/>
          <p:cNvSpPr/>
          <p:nvPr/>
        </p:nvSpPr>
        <p:spPr>
          <a:xfrm>
            <a:off x="4151376" y="1737360"/>
            <a:ext cx="384048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9D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"/>
          <p:cNvSpPr/>
          <p:nvPr/>
        </p:nvSpPr>
        <p:spPr>
          <a:xfrm>
            <a:off x="4517135" y="1481328"/>
            <a:ext cx="3246120" cy="822960"/>
          </a:xfrm>
          <a:prstGeom prst="roundRect">
            <a:avLst>
              <a:gd fmla="val 14000" name="adj"/>
            </a:avLst>
          </a:prstGeom>
          <a:solidFill>
            <a:srgbClr val="2C5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an Agent Team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  <a:defRPr/>
            </a:pP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 2</a:t>
            </a:r>
            <a:endParaRPr/>
          </a:p>
        </p:txBody>
      </p:sp>
      <p:sp>
        <p:nvSpPr>
          <p:cNvPr id="218" name="Google Shape;218;p2"/>
          <p:cNvSpPr/>
          <p:nvPr/>
        </p:nvSpPr>
        <p:spPr>
          <a:xfrm>
            <a:off x="7827263" y="1737360"/>
            <a:ext cx="384048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9D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"/>
          <p:cNvSpPr/>
          <p:nvPr/>
        </p:nvSpPr>
        <p:spPr>
          <a:xfrm>
            <a:off x="8193022" y="1481328"/>
            <a:ext cx="3246120" cy="822960"/>
          </a:xfrm>
          <a:prstGeom prst="roundRect">
            <a:avLst>
              <a:gd fmla="val 14000" name="adj"/>
            </a:avLst>
          </a:prstGeom>
          <a:solidFill>
            <a:srgbClr val="F99D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1600"/>
              <a:buFont typeface="Arial"/>
              <a:buNone/>
              <a:defRPr/>
            </a:pPr>
            <a:r>
              <a:rPr b="1" i="0" lang="en-US" sz="1800" u="none" cap="none" strike="noStrike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Build an Agent Ecosystem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1250"/>
              <a:buFont typeface="Arial"/>
              <a:buNone/>
              <a:defRPr/>
            </a:pPr>
            <a:r>
              <a:rPr b="0" i="0" lang="en-US" sz="1250" u="none" cap="none" strike="noStrike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DAY 3</a:t>
            </a:r>
            <a:endParaRPr/>
          </a:p>
        </p:txBody>
      </p:sp>
      <p:sp>
        <p:nvSpPr>
          <p:cNvPr id="220" name="Google Shape;220;p2"/>
          <p:cNvSpPr txBox="1"/>
          <p:nvPr/>
        </p:nvSpPr>
        <p:spPr>
          <a:xfrm>
            <a:off x="841248" y="25420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F"/>
              </a:buClr>
              <a:buSzPts val="1500"/>
              <a:buFont typeface="Arial"/>
              <a:buNone/>
              <a:defRPr/>
            </a:pPr>
            <a:r>
              <a:rPr b="1" i="0" lang="en-US" sz="1800" u="none" cap="none" strike="noStrike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Day 3 (today):</a:t>
            </a:r>
            <a:r>
              <a:rPr b="0" i="0" lang="en-US" sz="1800" u="none" cap="none" strike="noStrike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build </a:t>
            </a:r>
            <a:r>
              <a:rPr b="1" i="0" lang="en-US" sz="1800" u="none" cap="none" strike="noStrike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MyShopper</a:t>
            </a:r>
            <a:r>
              <a:rPr b="0" i="0" lang="en-US" sz="1800" u="none" cap="none" strike="noStrike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, a personal buying agent owned by the customer — it represents the </a:t>
            </a:r>
            <a:r>
              <a:rPr b="1" i="0" lang="en-US" sz="1800" u="none" cap="none" strike="noStrike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r>
              <a:rPr b="0" i="0" lang="en-US" sz="1800" u="none" cap="none" strike="noStrike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, not AgentMart.</a:t>
            </a:r>
            <a:endParaRPr/>
          </a:p>
        </p:txBody>
      </p:sp>
      <p:sp>
        <p:nvSpPr>
          <p:cNvPr id="221" name="Google Shape;221;p2"/>
          <p:cNvSpPr/>
          <p:nvPr/>
        </p:nvSpPr>
        <p:spPr>
          <a:xfrm>
            <a:off x="1234440" y="3310128"/>
            <a:ext cx="2468880" cy="566928"/>
          </a:xfrm>
          <a:prstGeom prst="roundRect">
            <a:avLst>
              <a:gd fmla="val 14000" name="adj"/>
            </a:avLst>
          </a:prstGeom>
          <a:solidFill>
            <a:srgbClr val="00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1450"/>
              <a:buFont typeface="Arial"/>
              <a:buNone/>
              <a:defRPr/>
            </a:pPr>
            <a:r>
              <a:rPr b="1" i="0" lang="en-US" sz="1800" u="none" cap="none" strike="noStrike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/>
          </a:p>
        </p:txBody>
      </p:sp>
      <p:sp>
        <p:nvSpPr>
          <p:cNvPr id="222" name="Google Shape;222;p2"/>
          <p:cNvSpPr txBox="1"/>
          <p:nvPr/>
        </p:nvSpPr>
        <p:spPr>
          <a:xfrm>
            <a:off x="3977639" y="3410712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F"/>
              </a:buClr>
              <a:buSzPts val="1350"/>
              <a:buFont typeface="Arial"/>
              <a:buNone/>
              <a:defRPr/>
            </a:pPr>
            <a:r>
              <a:rPr b="0" i="0" lang="en-US" sz="1800" u="none" cap="none" strike="noStrike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Telegram / WhatsApp / WebChat</a:t>
            </a:r>
            <a:endParaRPr/>
          </a:p>
        </p:txBody>
      </p:sp>
      <p:sp>
        <p:nvSpPr>
          <p:cNvPr id="223" name="Google Shape;223;p2"/>
          <p:cNvSpPr/>
          <p:nvPr/>
        </p:nvSpPr>
        <p:spPr>
          <a:xfrm>
            <a:off x="2286000" y="3895344"/>
            <a:ext cx="365760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B88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"/>
          <p:cNvSpPr/>
          <p:nvPr/>
        </p:nvSpPr>
        <p:spPr>
          <a:xfrm>
            <a:off x="1234440" y="4242816"/>
            <a:ext cx="2468880" cy="566928"/>
          </a:xfrm>
          <a:prstGeom prst="roundRect">
            <a:avLst>
              <a:gd fmla="val 14000" name="adj"/>
            </a:avLst>
          </a:prstGeom>
          <a:solidFill>
            <a:srgbClr val="2C5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  <a:defRPr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MyShopper</a:t>
            </a:r>
            <a:endParaRPr/>
          </a:p>
        </p:txBody>
      </p:sp>
      <p:sp>
        <p:nvSpPr>
          <p:cNvPr id="225" name="Google Shape;225;p2"/>
          <p:cNvSpPr txBox="1"/>
          <p:nvPr/>
        </p:nvSpPr>
        <p:spPr>
          <a:xfrm>
            <a:off x="3977639" y="4343400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F"/>
              </a:buClr>
              <a:buSzPts val="1350"/>
              <a:buFont typeface="Arial"/>
              <a:buNone/>
              <a:defRPr/>
            </a:pPr>
            <a:r>
              <a:rPr b="0" i="0" lang="en-US" sz="1800" u="none" cap="none" strike="noStrike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Personal buying agent — talks to AgentMart over A2A</a:t>
            </a:r>
            <a:endParaRPr/>
          </a:p>
        </p:txBody>
      </p:sp>
      <p:sp>
        <p:nvSpPr>
          <p:cNvPr id="226" name="Google Shape;226;p2"/>
          <p:cNvSpPr/>
          <p:nvPr/>
        </p:nvSpPr>
        <p:spPr>
          <a:xfrm>
            <a:off x="2286000" y="4828032"/>
            <a:ext cx="365760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B88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"/>
          <p:cNvSpPr/>
          <p:nvPr/>
        </p:nvSpPr>
        <p:spPr>
          <a:xfrm>
            <a:off x="1234440" y="5175504"/>
            <a:ext cx="2468880" cy="566928"/>
          </a:xfrm>
          <a:prstGeom prst="roundRect">
            <a:avLst>
              <a:gd fmla="val 14000" name="adj"/>
            </a:avLst>
          </a:prstGeom>
          <a:solidFill>
            <a:srgbClr val="F99D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1450"/>
              <a:buFont typeface="Arial"/>
              <a:buNone/>
              <a:defRPr/>
            </a:pPr>
            <a:r>
              <a:rPr b="1" i="0" lang="en-US" sz="1800" u="none" cap="none" strike="noStrike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AgentMart</a:t>
            </a:r>
            <a:endParaRPr/>
          </a:p>
        </p:txBody>
      </p:sp>
      <p:sp>
        <p:nvSpPr>
          <p:cNvPr id="228" name="Google Shape;228;p2"/>
          <p:cNvSpPr txBox="1"/>
          <p:nvPr/>
        </p:nvSpPr>
        <p:spPr>
          <a:xfrm>
            <a:off x="3977639" y="5276088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F"/>
              </a:buClr>
              <a:buSzPts val="1350"/>
              <a:buFont typeface="Arial"/>
              <a:buNone/>
              <a:defRPr/>
            </a:pPr>
            <a:r>
              <a:rPr b="0" i="0" lang="en-US" sz="1800" u="none" cap="none" strike="noStrike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Shopping · Pricing · Inventory · Fulfilment · Order agents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Full-Day Agenda</a:t>
            </a:r>
            <a:endParaRPr/>
          </a:p>
        </p:txBody>
      </p:sp>
      <p:sp>
        <p:nvSpPr>
          <p:cNvPr id="234" name="Google Shape;234;p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 u="none" cap="none" strike="noStrike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SESSION OUTLINE</a:t>
            </a:r>
            <a:endParaRPr/>
          </a:p>
        </p:txBody>
      </p:sp>
      <p:sp>
        <p:nvSpPr>
          <p:cNvPr id="235" name="Google Shape;235;p3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236" name="Google Shape;236;p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graphicFrame>
        <p:nvGraphicFramePr>
          <p:cNvPr id="237" name="Google Shape;237;p3"/>
          <p:cNvGraphicFramePr/>
          <p:nvPr/>
        </p:nvGraphicFramePr>
        <p:xfrm>
          <a:off x="841248" y="1371600"/>
          <a:ext cx="3000000" cy="5120766"/>
        </p:xfrm>
        <a:graphic>
          <a:graphicData uri="http://schemas.openxmlformats.org/drawingml/2006/table">
            <a:tbl>
              <a:tblPr bandRow="1" firstRow="1">
                <a:noFill/>
                <a:tableStyleId>{7DDEEE19-1CEB-4C42-8C1D-B147DBBF3E75}</a:tableStyleId>
              </a:tblPr>
              <a:tblGrid>
                <a:gridCol w="1828800"/>
                <a:gridCol w="8686800"/>
              </a:tblGrid>
              <a:tr h="36576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42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4282"/>
                    </a:solidFill>
                  </a:tcPr>
                </a:tc>
              </a:tr>
              <a:tr h="36576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0:00 – 0:15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Opening &amp; framing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</a:tr>
              <a:tr h="36576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0:15 – 1:00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 1: OpenClaw — the orchestration layer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576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1:00 – 1:45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 2: Hermes — the model layer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</a:tr>
              <a:tr h="36576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1:45 – 1:55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Break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576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1:55 – 2:40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 3: NanoClaw — the edge layer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</a:tr>
              <a:tr h="36576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2:40 – 3:40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 4: Heartbeat mechanisms (deep dive)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576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3:40 – 3:50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Break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</a:tr>
              <a:tr h="36576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3:50 – 4:50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 5: Skill writing (deep dive)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576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4:50 – 5:00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Break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</a:tr>
              <a:tr h="36576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5:00 – 6:00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 6: Channel integration — messaging &amp; voice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576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6:00 – 7:00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 7: A2A setup — a one-of-its-kind protocol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</a:tr>
              <a:tr h="36576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7:00 – 7:20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Combined lab: end-to-end channel-to-skill flow over custom A2A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576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7:20 – 7:30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Wrap-up &amp; Q&amp;A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238" name="Google Shape;238;p3"/>
          <p:cNvSpPr txBox="1"/>
          <p:nvPr/>
        </p:nvSpPr>
        <p:spPr>
          <a:xfrm>
            <a:off x="841248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1100"/>
              <a:buFont typeface="Arial"/>
              <a:buNone/>
              <a:defRPr/>
            </a:pPr>
            <a:r>
              <a:rPr b="0" i="1" lang="en-US" sz="11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Can also split into three sessions: A = Parts 1–3 · B = Parts 4–5 + lab · C = Parts 6–7 + final lab.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/>
          </a:p>
        </p:txBody>
      </p:sp>
      <p:sp>
        <p:nvSpPr>
          <p:cNvPr id="244" name="Google Shape;244;p4"/>
          <p:cNvSpPr txBox="1"/>
          <p:nvPr>
            <p:ph idx="1" type="body"/>
          </p:nvPr>
        </p:nvSpPr>
        <p:spPr>
          <a:xfrm>
            <a:off x="841248" y="1380744"/>
            <a:ext cx="10607040" cy="5077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1600"/>
              <a:buNone/>
              <a:defRPr/>
            </a:pPr>
            <a:r>
              <a:rPr b="1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By the end of today, you will be able to: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20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how OpenClaw (orchestration), Hermes (model layer) and NanoClaw (edge deployment) fit together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Design a heartbeat / liveness mechanism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for agents — including edge agents on unreliable networks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Write agent skills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whose descriptions reliably trigger correct invocation, with basic security hardening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Wire an agent to real-world channels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messaging (Telegram / WhatsApp) and voice — and handle their distinct failure modes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Design a custom agent-to-agent (A2A) protocol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on Redis Streams + MCP, distinct from off-the-shelf A2A implementations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Build an end-to-end flow: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user messages/speaks → orchestrator dispatches to a healthy edge agent over custom A2A → skill invocation → reply over the same channel</a:t>
            </a:r>
            <a:endParaRPr/>
          </a:p>
        </p:txBody>
      </p:sp>
      <p:sp>
        <p:nvSpPr>
          <p:cNvPr id="245" name="Google Shape;245;p4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 u="none" cap="none" strike="noStrike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sp>
        <p:nvSpPr>
          <p:cNvPr id="246" name="Google Shape;246;p4"/>
          <p:cNvSpPr txBox="1"/>
          <p:nvPr/>
        </p:nvSpPr>
        <p:spPr>
          <a:xfrm>
            <a:off x="841248" y="6513310"/>
            <a:ext cx="6400800" cy="271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247" name="Google Shape;247;p4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The Stack at a Glance</a:t>
            </a:r>
            <a:endParaRPr/>
          </a:p>
        </p:txBody>
      </p:sp>
      <p:sp>
        <p:nvSpPr>
          <p:cNvPr id="253" name="Google Shape;253;p5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 u="none" cap="none" strike="noStrike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FRAMING</a:t>
            </a:r>
            <a:endParaRPr/>
          </a:p>
        </p:txBody>
      </p:sp>
      <p:sp>
        <p:nvSpPr>
          <p:cNvPr id="254" name="Google Shape;254;p5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255" name="Google Shape;255;p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841248" y="1517904"/>
            <a:ext cx="3246120" cy="1005840"/>
          </a:xfrm>
          <a:prstGeom prst="roundRect">
            <a:avLst>
              <a:gd fmla="val 14000" name="adj"/>
            </a:avLst>
          </a:prstGeom>
          <a:solidFill>
            <a:srgbClr val="2C5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  <a:defRPr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OpenClaw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  <a:defRPr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Orchestration layer</a:t>
            </a:r>
            <a:endParaRPr/>
          </a:p>
        </p:txBody>
      </p:sp>
      <p:sp>
        <p:nvSpPr>
          <p:cNvPr id="257" name="Google Shape;257;p5"/>
          <p:cNvSpPr txBox="1"/>
          <p:nvPr/>
        </p:nvSpPr>
        <p:spPr>
          <a:xfrm>
            <a:off x="932688" y="26060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1200"/>
              <a:buFont typeface="Arial"/>
              <a:buNone/>
              <a:defRPr/>
            </a:pPr>
            <a:r>
              <a:rPr b="0" i="0" lang="en-US" sz="12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Redis Streams + MCP multi-agent backbone</a:t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4151376" y="1847088"/>
            <a:ext cx="384048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9D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4517135" y="1517904"/>
            <a:ext cx="3246120" cy="1005840"/>
          </a:xfrm>
          <a:prstGeom prst="roundRect">
            <a:avLst>
              <a:gd fmla="val 14000" name="adj"/>
            </a:avLst>
          </a:prstGeom>
          <a:solidFill>
            <a:srgbClr val="00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1900"/>
              <a:buFont typeface="Arial"/>
              <a:buNone/>
              <a:defRPr/>
            </a:pPr>
            <a:r>
              <a:rPr b="1" i="0" lang="en-US" sz="1900" u="none" cap="none" strike="noStrike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Hermes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1550"/>
              <a:buFont typeface="Arial"/>
              <a:buNone/>
              <a:defRPr/>
            </a:pPr>
            <a:r>
              <a:rPr b="0" i="0" lang="en-US" sz="1800" u="none" cap="none" strike="noStrike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Model layer</a:t>
            </a:r>
            <a:endParaRPr/>
          </a:p>
        </p:txBody>
      </p:sp>
      <p:sp>
        <p:nvSpPr>
          <p:cNvPr id="260" name="Google Shape;260;p5"/>
          <p:cNvSpPr txBox="1"/>
          <p:nvPr/>
        </p:nvSpPr>
        <p:spPr>
          <a:xfrm>
            <a:off x="4608575" y="26060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1200"/>
              <a:buFont typeface="Arial"/>
              <a:buNone/>
              <a:defRPr/>
            </a:pPr>
            <a:r>
              <a:rPr b="0" i="0" lang="en-US" sz="12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Open-weight function-calling model</a:t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7827263" y="1847088"/>
            <a:ext cx="384048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9D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8193022" y="1517904"/>
            <a:ext cx="3246120" cy="1005840"/>
          </a:xfrm>
          <a:prstGeom prst="roundRect">
            <a:avLst>
              <a:gd fmla="val 14000" name="adj"/>
            </a:avLst>
          </a:prstGeom>
          <a:solidFill>
            <a:srgbClr val="F99D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1900"/>
              <a:buFont typeface="Arial"/>
              <a:buNone/>
              <a:defRPr/>
            </a:pPr>
            <a:r>
              <a:rPr b="1" i="0" lang="en-US" sz="1900" u="none" cap="none" strike="noStrike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NanoClaw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1550"/>
              <a:buFont typeface="Arial"/>
              <a:buNone/>
              <a:defRPr/>
            </a:pPr>
            <a:r>
              <a:rPr b="0" i="0" lang="en-US" sz="1800" u="none" cap="none" strike="noStrike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Edge layer</a:t>
            </a:r>
            <a:endParaRPr/>
          </a:p>
        </p:txBody>
      </p:sp>
      <p:sp>
        <p:nvSpPr>
          <p:cNvPr id="263" name="Google Shape;263;p5"/>
          <p:cNvSpPr txBox="1"/>
          <p:nvPr/>
        </p:nvSpPr>
        <p:spPr>
          <a:xfrm>
            <a:off x="8284462" y="26060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1200"/>
              <a:buFont typeface="Arial"/>
              <a:buNone/>
              <a:defRPr/>
            </a:pPr>
            <a:r>
              <a:rPr b="0" i="0" lang="en-US" sz="12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Pi-class on-device deployment</a:t>
            </a:r>
            <a:endParaRPr/>
          </a:p>
        </p:txBody>
      </p:sp>
      <p:sp>
        <p:nvSpPr>
          <p:cNvPr id="264" name="Google Shape;264;p5"/>
          <p:cNvSpPr txBox="1"/>
          <p:nvPr/>
        </p:nvSpPr>
        <p:spPr>
          <a:xfrm>
            <a:off x="841248" y="3401568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1500"/>
              <a:buFont typeface="Arial"/>
              <a:buNone/>
              <a:defRPr/>
            </a:pPr>
            <a:r>
              <a:rPr b="1" i="0" lang="en-US" sz="1800" u="none" cap="none" strike="noStrike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Four cross-cutting concerns make the stack trustworthy in production:</a:t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841248" y="3913632"/>
            <a:ext cx="2450592" cy="822960"/>
          </a:xfrm>
          <a:prstGeom prst="roundRect">
            <a:avLst>
              <a:gd fmla="val 14000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1450"/>
              <a:buFont typeface="Arial"/>
              <a:buNone/>
              <a:defRPr/>
            </a:pPr>
            <a:r>
              <a:rPr b="1" i="0" lang="en-US" sz="1800" u="none" cap="none" strike="noStrike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Heartbeats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1100"/>
              <a:buFont typeface="Arial"/>
              <a:buNone/>
              <a:defRPr/>
            </a:pPr>
            <a:r>
              <a:rPr b="0" i="0" lang="en-US" sz="11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trust in state</a:t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3529584" y="3913632"/>
            <a:ext cx="2450592" cy="822960"/>
          </a:xfrm>
          <a:prstGeom prst="roundRect">
            <a:avLst>
              <a:gd fmla="val 14000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1450"/>
              <a:buFont typeface="Arial"/>
              <a:buNone/>
              <a:defRPr/>
            </a:pPr>
            <a:r>
              <a:rPr b="1" i="0" lang="en-US" sz="1800" u="none" cap="none" strike="noStrike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Skill writing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1100"/>
              <a:buFont typeface="Arial"/>
              <a:buNone/>
              <a:defRPr/>
            </a:pPr>
            <a:r>
              <a:rPr b="0" i="0" lang="en-US" sz="11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trust in capability</a:t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6217920" y="3913632"/>
            <a:ext cx="2450592" cy="822960"/>
          </a:xfrm>
          <a:prstGeom prst="roundRect">
            <a:avLst>
              <a:gd fmla="val 14000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1450"/>
              <a:buFont typeface="Arial"/>
              <a:buNone/>
              <a:defRPr/>
            </a:pPr>
            <a:r>
              <a:rPr b="1" i="0" lang="en-US" sz="1800" u="none" cap="none" strike="noStrike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1100"/>
              <a:buFont typeface="Arial"/>
              <a:buNone/>
              <a:defRPr/>
            </a:pPr>
            <a:r>
              <a:rPr b="0" i="0" lang="en-US" sz="11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trust in delivery</a:t>
            </a: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8906256" y="3913632"/>
            <a:ext cx="2450592" cy="822960"/>
          </a:xfrm>
          <a:prstGeom prst="roundRect">
            <a:avLst>
              <a:gd fmla="val 14000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1450"/>
              <a:buFont typeface="Arial"/>
              <a:buNone/>
              <a:defRPr/>
            </a:pPr>
            <a:r>
              <a:rPr b="1" i="0" lang="en-US" sz="1800" u="none" cap="none" strike="noStrike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Custom A2A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1100"/>
              <a:buFont typeface="Arial"/>
              <a:buNone/>
              <a:defRPr/>
            </a:pPr>
            <a:r>
              <a:rPr b="0" i="0" lang="en-US" sz="11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trust in coordination</a:t>
            </a:r>
            <a:endParaRPr/>
          </a:p>
        </p:txBody>
      </p:sp>
      <p:sp>
        <p:nvSpPr>
          <p:cNvPr id="269" name="Google Shape;269;p5"/>
          <p:cNvSpPr txBox="1"/>
          <p:nvPr/>
        </p:nvSpPr>
        <p:spPr>
          <a:xfrm>
            <a:off x="841248" y="5074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1400"/>
              <a:buFont typeface="Arial"/>
              <a:buNone/>
              <a:defRPr/>
            </a:pPr>
            <a:r>
              <a:rPr b="0" i="1" lang="en-US" sz="18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By the end of the day you will build a small end-to-end system touching every one of these pieces.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The Three Layers: a Comparison</a:t>
            </a:r>
            <a:endParaRPr/>
          </a:p>
        </p:txBody>
      </p:sp>
      <p:sp>
        <p:nvSpPr>
          <p:cNvPr id="275" name="Google Shape;275;p6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 u="none" cap="none" strike="noStrike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FRAMING</a:t>
            </a:r>
            <a:endParaRPr/>
          </a:p>
        </p:txBody>
      </p:sp>
      <p:sp>
        <p:nvSpPr>
          <p:cNvPr id="276" name="Google Shape;276;p6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277" name="Google Shape;277;p6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graphicFrame>
        <p:nvGraphicFramePr>
          <p:cNvPr id="278" name="Google Shape;278;p6"/>
          <p:cNvGraphicFramePr/>
          <p:nvPr/>
        </p:nvGraphicFramePr>
        <p:xfrm>
          <a:off x="841248" y="1481328"/>
          <a:ext cx="3000000" cy="4590297"/>
        </p:xfrm>
        <a:graphic>
          <a:graphicData uri="http://schemas.openxmlformats.org/drawingml/2006/table">
            <a:tbl>
              <a:tblPr bandRow="1" firstRow="1">
                <a:noFill/>
                <a:tableStyleId>{7DDEEE19-1CEB-4C42-8C1D-B147DBBF3E75}</a:tableStyleId>
              </a:tblPr>
              <a:tblGrid>
                <a:gridCol w="2011675"/>
                <a:gridCol w="2834650"/>
                <a:gridCol w="2834650"/>
                <a:gridCol w="2834650"/>
              </a:tblGrid>
              <a:tr h="7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/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0042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OpenClaw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57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1F2A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Hermes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1F2A3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NanoClaw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99D1F"/>
                    </a:solidFill>
                  </a:tcPr>
                </a:tc>
              </a:tr>
              <a:tr h="7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00428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Role in the stack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Orchestration layer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layer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Edge layer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91440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00428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it is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Redis Streams + MCP multi-agent backbone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Open-weight function-calling 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Slimmed OpenClaw + Hermes runtime on Pi-class hardware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</a:tr>
              <a:tr h="118872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00428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Why it matters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Durable, replayable, multi-consumer messaging between agents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Cost, latency, no vendor lock-in; structured tool calls as first-class output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Privacy, offline operation, no per-call cost; data stays on device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914409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1" lang="en-US" sz="1800">
                          <a:solidFill>
                            <a:srgbClr val="00428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Watch out for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Stream-topology design + Redis operational overhead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Smaller open models still trail frontier-model quality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b="0" lang="en-US" sz="1800">
                          <a:solidFill>
                            <a:srgbClr val="2B34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Tight RAM, quantization, slower on-device inference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279" name="Google Shape;279;p6"/>
          <p:cNvSpPr txBox="1"/>
          <p:nvPr/>
        </p:nvSpPr>
        <p:spPr>
          <a:xfrm>
            <a:off x="841248" y="5490464"/>
            <a:ext cx="1060704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1300"/>
              <a:buFont typeface="Arial"/>
              <a:buNone/>
              <a:defRPr/>
            </a:pPr>
            <a:r>
              <a:rPr b="0" i="1" lang="en-US" sz="18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One stack, three layers — the rest of today is about making them trustworthy: heartbeats, skills, channels, A2A.</a:t>
            </a:r>
            <a:endParaRPr/>
          </a:p>
        </p:txBody>
      </p:sp>
      <p:sp>
        <p:nvSpPr>
          <p:cNvPr id="280" name="Google Shape;280;p6"/>
          <p:cNvSpPr txBox="1"/>
          <p:nvPr/>
        </p:nvSpPr>
        <p:spPr>
          <a:xfrm>
            <a:off x="841248" y="6053328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b="0" i="0" lang="en-US" sz="1100" u="none" cap="none" strike="noStrike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Reference: Raphael De Lio, “OpenClaw is Going Enterprise — RFC-27: Redis Agent File System”, Medium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  <a:defRPr/>
            </a:pPr>
            <a:r>
              <a:rPr b="0" i="0" lang="en-US" sz="1000" u="sng" cap="none" strike="noStrike">
                <a:solidFill>
                  <a:srgbClr val="2F6FD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medium.com/redis-with-raphael-de-lio/openclaw-is-going-enterprise-rfc-27-redis-agent-file-system-dfe256c3b12f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"/>
          <p:cNvSpPr txBox="1"/>
          <p:nvPr>
            <p:ph type="title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/>
            </a:pPr>
            <a:r>
              <a:rPr b="1" i="0"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OpenClaw — the Orchestration Layer</a:t>
            </a:r>
            <a:endParaRPr/>
          </a:p>
        </p:txBody>
      </p:sp>
      <p:sp>
        <p:nvSpPr>
          <p:cNvPr id="286" name="Google Shape;286;p7"/>
          <p:cNvSpPr txBox="1"/>
          <p:nvPr>
            <p:ph idx="1" type="body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700"/>
              <a:buNone/>
              <a:defRPr/>
            </a:pPr>
            <a:r>
              <a:rPr b="0" i="0" lang="en-US" sz="1800">
                <a:solidFill>
                  <a:srgbClr val="E8EEF5"/>
                </a:solidFill>
                <a:latin typeface="Arial"/>
                <a:ea typeface="Arial"/>
                <a:cs typeface="Arial"/>
                <a:sym typeface="Arial"/>
              </a:rPr>
              <a:t>Multi-agent architecture on Redis Streams + MCP, and where the ecosystem plug-ins attach.</a:t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/>
            </a:pPr>
            <a:r>
              <a:rPr b="1" i="0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1  ·  45 MIN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OpenClaw: Multi-Agent Architecture</a:t>
            </a:r>
            <a:endParaRPr/>
          </a:p>
        </p:txBody>
      </p:sp>
      <p:sp>
        <p:nvSpPr>
          <p:cNvPr id="293" name="Google Shape;293;p8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6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Redis Streams + MCP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are the backbone for agent-to-agent communication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Redis Streams give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durable, replayable, multi-consumer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messaging between agents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MCP standardises how agents expose and call tools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Live demo: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spin up two agents talking to each other via Redis Streams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Watch: a message published by Agent A appears in Agent B's inbox stream and is consumed independently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Ecosystem plug-ins at this layer: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ClawHub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the skill marketplace (where reusable skills are published &amp; discovered)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MoltGuard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the guardrail proxy (policy &amp; safety checks in the request path)</a:t>
            </a:r>
            <a:endParaRPr/>
          </a:p>
        </p:txBody>
      </p:sp>
      <p:sp>
        <p:nvSpPr>
          <p:cNvPr id="294" name="Google Shape;294;p8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1 · OPENCLAW</a:t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296" name="Google Shape;296;p8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"/>
          <p:cNvSpPr txBox="1"/>
          <p:nvPr>
            <p:ph type="title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/>
            </a:pPr>
            <a:r>
              <a:rPr b="1" i="0"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Hermes — the Model Layer</a:t>
            </a:r>
            <a:endParaRPr/>
          </a:p>
        </p:txBody>
      </p:sp>
      <p:sp>
        <p:nvSpPr>
          <p:cNvPr id="302" name="Google Shape;302;p9"/>
          <p:cNvSpPr txBox="1"/>
          <p:nvPr>
            <p:ph idx="1" type="body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700"/>
              <a:buNone/>
              <a:defRPr/>
            </a:pPr>
            <a:r>
              <a:rPr b="0" i="0" lang="en-US" sz="1800">
                <a:solidFill>
                  <a:srgbClr val="E8EEF5"/>
                </a:solidFill>
                <a:latin typeface="Arial"/>
                <a:ea typeface="Arial"/>
                <a:cs typeface="Arial"/>
                <a:sym typeface="Arial"/>
              </a:rPr>
              <a:t>Why an open-weight function-calling model is the right brain for self-hosted and edge agents.</a:t>
            </a:r>
            <a:endParaRPr/>
          </a:p>
        </p:txBody>
      </p:sp>
      <p:sp>
        <p:nvSpPr>
          <p:cNvPr id="303" name="Google Shape;303;p9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/>
            </a:pPr>
            <a:r>
              <a:rPr b="1" i="0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2  ·  45 MIN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"/>
          <p:cNvSpPr txBox="1"/>
          <p:nvPr>
            <p:ph idx="1" type="body"/>
          </p:nvPr>
        </p:nvSpPr>
        <p:spPr>
          <a:xfrm>
            <a:off x="838199" y="1457325"/>
            <a:ext cx="4785411" cy="4623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1550"/>
              <a:buNone/>
              <a:defRPr/>
            </a:pPr>
            <a:r>
              <a:rPr b="1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Why open-weight matters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20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no per-token API bill at agent scale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Latency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runs next to (or on) the agent; no network round-trip to a hosted API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No vendor lock-in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self-hosted, portable to edge hardware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Function calling built in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structured tool use is a first-class output, not a prompt hack</a:t>
            </a:r>
            <a:endParaRPr/>
          </a:p>
        </p:txBody>
      </p:sp>
      <p:sp>
        <p:nvSpPr>
          <p:cNvPr id="309" name="Google Shape;309;p10"/>
          <p:cNvSpPr txBox="1"/>
          <p:nvPr>
            <p:ph idx="2" type="body"/>
          </p:nvPr>
        </p:nvSpPr>
        <p:spPr>
          <a:xfrm>
            <a:off x="5806388" y="1457325"/>
            <a:ext cx="4785411" cy="4623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550"/>
              <a:buNone/>
              <a:defRPr/>
            </a:pPr>
            <a:r>
              <a:rPr b="1" i="0" lang="en-US" sz="18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Hermes vs Claude / GPT tool calling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20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Compare Hermes'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tool-calling output format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against Claude / GPT function calling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Key check: does it emit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OpenAI-style `tool_calls`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? This decides whether agent frameworks need a translation shim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Hands-on: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get Hermes making a structured tool call through an OpenClaw agent</a:t>
            </a:r>
            <a:endParaRPr/>
          </a:p>
        </p:txBody>
      </p:sp>
      <p:sp>
        <p:nvSpPr>
          <p:cNvPr id="310" name="Google Shape;310;p10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Hermes: Open-Weight Function Calling</a:t>
            </a:r>
            <a:endParaRPr/>
          </a:p>
        </p:txBody>
      </p:sp>
      <p:sp>
        <p:nvSpPr>
          <p:cNvPr id="311" name="Google Shape;311;p10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2 · HERMES</a:t>
            </a:r>
            <a:endParaRPr/>
          </a:p>
        </p:txBody>
      </p:sp>
      <p:sp>
        <p:nvSpPr>
          <p:cNvPr id="312" name="Google Shape;312;p10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313" name="Google Shape;313;p10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Hermes Core Features: the Automation Engine</a:t>
            </a:r>
            <a:endParaRPr/>
          </a:p>
        </p:txBody>
      </p:sp>
      <p:sp>
        <p:nvSpPr>
          <p:cNvPr id="319" name="Google Shape;319;p11"/>
          <p:cNvSpPr txBox="1"/>
          <p:nvPr>
            <p:ph idx="1" type="body"/>
          </p:nvPr>
        </p:nvSpPr>
        <p:spPr>
          <a:xfrm>
            <a:off x="841248" y="1380744"/>
            <a:ext cx="10607040" cy="5222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Natural-language cron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“every weekday at 9am, summarize my inbox and post to Slack” is all it takes; agents can also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self-schedule wake-ups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script mode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(`--script --no-agent`) runs with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zero LLM tokens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Kanban coordination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a shared Kanban board lets 7+ agents manage themselves: the board reads each profile’s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SOUL.md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for name + role; tasks flow proposed → in-progress → done without you relaying anything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Subagent delegation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talk to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one lead agent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; it delegates to specialist subagents (e.g. a 9-role dev team). Authority is enforced by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toolset restrictions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, not just system prompts; the orchestrator grades work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pass / rework / failed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Self-improving skills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writes its own skill files after solving hard problems; reusing a skill updates it from what it learns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(deep dive in Part 5)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Memory &amp; profiles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three-layer memory; separate profiles with their own credentials, memory and scope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Safety &amp; control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approval gates,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/rollback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(rewind files + context),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/steer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(inject instructions mid-run)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→ Part 5 security</a:t>
            </a:r>
            <a:endParaRPr/>
          </a:p>
        </p:txBody>
      </p:sp>
      <p:sp>
        <p:nvSpPr>
          <p:cNvPr id="320" name="Google Shape;320;p11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2 · HERMES</a:t>
            </a:r>
            <a:endParaRPr/>
          </a:p>
        </p:txBody>
      </p:sp>
      <p:sp>
        <p:nvSpPr>
          <p:cNvPr id="321" name="Google Shape;321;p11"/>
          <p:cNvSpPr txBox="1"/>
          <p:nvPr/>
        </p:nvSpPr>
        <p:spPr>
          <a:xfrm>
            <a:off x="841248" y="6657848"/>
            <a:ext cx="64008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322" name="Google Shape;322;p11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"/>
          <p:cNvSpPr txBox="1"/>
          <p:nvPr>
            <p:ph idx="1" type="body"/>
          </p:nvPr>
        </p:nvSpPr>
        <p:spPr>
          <a:xfrm>
            <a:off x="838199" y="1457325"/>
            <a:ext cx="4785411" cy="4623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1550"/>
              <a:buNone/>
              <a:defRPr/>
            </a:pPr>
            <a:r>
              <a:rPr b="1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Cron in production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2000"/>
              </a:spcBef>
              <a:spcAft>
                <a:spcPts val="0"/>
              </a:spcAft>
              <a:buClr>
                <a:srgbClr val="F99D1F"/>
              </a:buClr>
              <a:buSzPts val="13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3am “Dreaming” job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28 cron jobs, 30+ skills; every night it reads the day’s conversations → decisions, bugs, mistakes → writes tomorrow’s context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3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Gumroad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cron jobs check support tickets, watch X mentions, update finance docs; every mistake becomes a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dated policy rule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the agent must read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3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20 cron “signals”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skills log to a daily ledger; an agentic triage job highlights what matters</a:t>
            </a:r>
            <a:endParaRPr/>
          </a:p>
        </p:txBody>
      </p:sp>
      <p:sp>
        <p:nvSpPr>
          <p:cNvPr id="328" name="Google Shape;328;p12"/>
          <p:cNvSpPr txBox="1"/>
          <p:nvPr>
            <p:ph idx="2" type="body"/>
          </p:nvPr>
        </p:nvSpPr>
        <p:spPr>
          <a:xfrm>
            <a:off x="5806388" y="1457325"/>
            <a:ext cx="4785411" cy="4623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550"/>
              <a:buNone/>
              <a:defRPr/>
            </a:pPr>
            <a:r>
              <a:rPr b="1" i="0" lang="en-US" sz="18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Agent teams in production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2000"/>
              </a:spcBef>
              <a:spcAft>
                <a:spcPts val="0"/>
              </a:spcAft>
              <a:buClr>
                <a:srgbClr val="F99D1F"/>
              </a:buClr>
              <a:buSzPts val="13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7 agents, one Kanban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given a shared board, they started managing themselves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3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Hermes Swarm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teams of agents 24/7, messaging peer-to-peer, delegating work, self-scheduling wake-ups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3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12 instances in parallel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Nous Research runs 12 Hermes instances daily to build Hermes itself</a:t>
            </a:r>
            <a:endParaRPr/>
          </a:p>
        </p:txBody>
      </p:sp>
      <p:sp>
        <p:nvSpPr>
          <p:cNvPr id="329" name="Google Shape;329;p12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Hermes in the Wild: Automation Stories</a:t>
            </a:r>
            <a:endParaRPr/>
          </a:p>
        </p:txBody>
      </p:sp>
      <p:sp>
        <p:nvSpPr>
          <p:cNvPr id="330" name="Google Shape;330;p12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2 · HERMES · COMMUNITY</a:t>
            </a:r>
            <a:endParaRPr/>
          </a:p>
        </p:txBody>
      </p:sp>
      <p:sp>
        <p:nvSpPr>
          <p:cNvPr id="331" name="Google Shape;331;p12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332" name="Google Shape;332;p12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33" name="Google Shape;333;p12"/>
          <p:cNvSpPr txBox="1"/>
          <p:nvPr/>
        </p:nvSpPr>
        <p:spPr>
          <a:xfrm>
            <a:off x="841248" y="618134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Reference: Hermes Agent Docs — User Stories &amp; Use Cases (326 stories, 15 categories): </a:t>
            </a:r>
            <a:r>
              <a:rPr lang="en-US" sz="1050" u="sng">
                <a:solidFill>
                  <a:srgbClr val="2F6FD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hermes-agent.nousresearch.com/docs/user-stories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Hermes Deep Cuts: LSP, Curator, SOUL.md &amp; Media</a:t>
            </a:r>
            <a:endParaRPr/>
          </a:p>
        </p:txBody>
      </p:sp>
      <p:sp>
        <p:nvSpPr>
          <p:cNvPr id="339" name="Google Shape;339;p13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LSP — semantic diagnostics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Hermes runs ~20 real language servers (pyright, typescript-language-server, rust-analyzer, gopls, clangd…) as background subprocesses; after every `write_file` / `patch` the agent sees only the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diagnostics its edit introduced — type errors, undefined names, missing imports. The same architecture top-tier coding agents use, shipped self-contained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Curator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background maintenance for agent-created skills: usage telemetry,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active → stale → archived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lifecycle, optional LLM consolidation of near-duplicates, snapshots + rollback,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pin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to protect — keeps the self-improvement loop from polluting the skill catalog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Personality &amp; SOUL.md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`SOUL.md` is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slot #1 of the system prompt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the agent's identity; loaded only from `~/.hermes` so it stays predictable; `/personality` presets (teacher, technical, creative, pirate…) as session overlays. Rule of thumb: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SOUL.md = who the agent is; AGENTS.md = how the project works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Image &amp; video generation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image generation built in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via FAL.ai (11 models: FLUX 2, GPT-Image, Ideogram V3, Recraft V4…);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video generation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via skills &amp; integrations (e.g. Higgsfield UGC ad studio) — the same tool-extensibility story as MCP</a:t>
            </a:r>
            <a:endParaRPr/>
          </a:p>
        </p:txBody>
      </p:sp>
      <p:sp>
        <p:nvSpPr>
          <p:cNvPr id="340" name="Google Shape;340;p1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2 · HERMES</a:t>
            </a:r>
            <a:endParaRPr/>
          </a:p>
        </p:txBody>
      </p:sp>
      <p:sp>
        <p:nvSpPr>
          <p:cNvPr id="341" name="Google Shape;341;p13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342" name="Google Shape;342;p1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43" name="Google Shape;343;p13"/>
          <p:cNvSpPr txBox="1"/>
          <p:nvPr/>
        </p:nvSpPr>
        <p:spPr>
          <a:xfrm>
            <a:off x="841248" y="621792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Docs: hermes-agent.nousresearch.com/docs/user-guide/features (LSP · Curator · Personality · Image Generation)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Hermes Persistent Memory</a:t>
            </a:r>
            <a:endParaRPr/>
          </a:p>
        </p:txBody>
      </p:sp>
      <p:sp>
        <p:nvSpPr>
          <p:cNvPr id="349" name="Google Shape;349;p14"/>
          <p:cNvSpPr txBox="1"/>
          <p:nvPr>
            <p:ph idx="1" type="body"/>
          </p:nvPr>
        </p:nvSpPr>
        <p:spPr>
          <a:xfrm>
            <a:off x="841248" y="1385865"/>
            <a:ext cx="10607040" cy="5069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Two curated files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`MEMORY.md` (agent's notes: environment, conventions, lessons — 2,200 chars) + `USER.md` (your profile: preferences, style — 1,375 chars), stored in `~/.hermes/memories/`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Frozen snapshot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injected into the system prompt once at session start (preserves the prefix cache); the `memory` tool (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add / replace / remove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) writes through to disk immediately — visible next session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Bounded by design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hard char limits; when full, the agent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consolidates entries in the same turn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; duplicates rejected; every entry scanned for injection / exfiltration (it lands in the system prompt)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`session_search`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FTS5 full-text search over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all past sessions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(SQLite), free — no LLM call. Memory = key facts always in context; session search = on-demand “did we discuss X last week?”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Consent controls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`write_approval` stages saves for review (`/memory pending`); the background self-improvement review saves lessons post-turn; `/journey` shows the learning timeline</a:t>
            </a:r>
            <a:endParaRPr/>
          </a:p>
        </p:txBody>
      </p:sp>
      <p:sp>
        <p:nvSpPr>
          <p:cNvPr id="350" name="Google Shape;350;p14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2 · HERMES</a:t>
            </a:r>
            <a:endParaRPr/>
          </a:p>
        </p:txBody>
      </p:sp>
      <p:sp>
        <p:nvSpPr>
          <p:cNvPr id="351" name="Google Shape;351;p1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352" name="Google Shape;352;p14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5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Honcho Memory: Dialectic User Modeling</a:t>
            </a:r>
            <a:endParaRPr/>
          </a:p>
        </p:txBody>
      </p:sp>
      <p:sp>
        <p:nvSpPr>
          <p:cNvPr id="358" name="Google Shape;358;p15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Beyond key-value memory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Honcho is an AI-native memory backend (a memory-provider plugin) that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reasons about conversations after they happen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, building a running model of who the user is — preferences, goals, patterns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Dialectic reasoning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after each turn (cadence-gated), Honcho derives insights; optional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multi-pass depth (1–3): assess → self-audit → reconcile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; conclusions accumulate server-side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Two-layer context injection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base context (session summary + user representation + peer card) refreshed per turn, plus the dialectic supplement — “what matters right now”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Multi-agent isolation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per-peer profiles: your coding assistant and your personal assistant each see only their own observations —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no cross-contamination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One of 8 memory providers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Honcho, Mem0, Hindsight, Supermemory, OpenViking, RetainDB, ByteRover, Holographic — all run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alongside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built-in memory, never replace it; setup: `hermes memory setup`</a:t>
            </a:r>
            <a:endParaRPr/>
          </a:p>
        </p:txBody>
      </p:sp>
      <p:sp>
        <p:nvSpPr>
          <p:cNvPr id="359" name="Google Shape;359;p15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2 · HERMES · MEMORY PROVIDERS</a:t>
            </a:r>
            <a:endParaRPr/>
          </a:p>
        </p:txBody>
      </p:sp>
      <p:sp>
        <p:nvSpPr>
          <p:cNvPr id="360" name="Google Shape;360;p15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361" name="Google Shape;361;p1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Hermes Plugins: Extend Everything</a:t>
            </a:r>
            <a:endParaRPr/>
          </a:p>
        </p:txBody>
      </p:sp>
      <p:sp>
        <p:nvSpPr>
          <p:cNvPr id="367" name="Google Shape;367;p16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Drop-in extensibility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a directory in `~/.hermes/plugins/` with `plugin.yaml` + a `register(ctx)` — your tools appear alongside built-ins, no core-code changes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Wide surface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tools,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27 lifecycle hooks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(pre/post tool call, kanban events…), slash + CLI commands, bundled skills, gateway platforms,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image-gen &amp; video-gen backends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, memory providers, context engines, model providers, approval transports, MCP calls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Four plugin types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general (multi-select) · memory providers (one active) · context engines (one active) · model providers (pick one)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Opt-in by default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third-party plugins never run until allow-listed (`plugins.enabled`); bundled infrastructure loads automatically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Supply-chain security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install-time static scanning (safe / caution /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dangerous = blocked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), SHA-pinned installs + curated catalog,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capability consent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with re-consent on update — the OWASP posture from Part 5</a:t>
            </a:r>
            <a:endParaRPr/>
          </a:p>
        </p:txBody>
      </p:sp>
      <p:sp>
        <p:nvSpPr>
          <p:cNvPr id="368" name="Google Shape;368;p16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2 · HERMES</a:t>
            </a:r>
            <a:endParaRPr/>
          </a:p>
        </p:txBody>
      </p:sp>
      <p:sp>
        <p:nvSpPr>
          <p:cNvPr id="369" name="Google Shape;369;p16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370" name="Google Shape;370;p16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7"/>
          <p:cNvSpPr txBox="1"/>
          <p:nvPr>
            <p:ph type="title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/>
            </a:pPr>
            <a:r>
              <a:rPr b="1" i="0"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NanoClaw — the Edge Layer</a:t>
            </a:r>
            <a:endParaRPr/>
          </a:p>
        </p:txBody>
      </p:sp>
      <p:sp>
        <p:nvSpPr>
          <p:cNvPr id="376" name="Google Shape;376;p17"/>
          <p:cNvSpPr txBox="1"/>
          <p:nvPr>
            <p:ph idx="1" type="body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700"/>
              <a:buNone/>
              <a:defRPr/>
            </a:pPr>
            <a:r>
              <a:rPr b="0" i="0" lang="en-US" sz="1800">
                <a:solidFill>
                  <a:srgbClr val="E8EEF5"/>
                </a:solidFill>
                <a:latin typeface="Arial"/>
                <a:ea typeface="Arial"/>
                <a:cs typeface="Arial"/>
                <a:sym typeface="Arial"/>
              </a:rPr>
              <a:t>Running agents on Raspberry Pi–class hardware — and what you give up versus the cloud.</a:t>
            </a:r>
            <a:endParaRPr/>
          </a:p>
        </p:txBody>
      </p:sp>
      <p:sp>
        <p:nvSpPr>
          <p:cNvPr id="377" name="Google Shape;377;p17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/>
            </a:pPr>
            <a:r>
              <a:rPr b="1" i="0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3  ·  45 MIN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8"/>
          <p:cNvSpPr txBox="1"/>
          <p:nvPr>
            <p:ph idx="1" type="body"/>
          </p:nvPr>
        </p:nvSpPr>
        <p:spPr>
          <a:xfrm>
            <a:off x="838199" y="1457325"/>
            <a:ext cx="4785411" cy="4623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1550"/>
              <a:buNone/>
              <a:defRPr/>
            </a:pPr>
            <a:r>
              <a:rPr b="1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Pi-class hardware constraints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20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tight RAM budgets force small models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Quantization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Hermes runs as a quantized build to fit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Latency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on-device inference trades speed for independence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Demo: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deploy a slimmed-down OpenClaw + Hermes agent on NanoClaw</a:t>
            </a:r>
            <a:endParaRPr/>
          </a:p>
        </p:txBody>
      </p:sp>
      <p:sp>
        <p:nvSpPr>
          <p:cNvPr id="383" name="Google Shape;383;p18"/>
          <p:cNvSpPr txBox="1"/>
          <p:nvPr>
            <p:ph idx="2" type="body"/>
          </p:nvPr>
        </p:nvSpPr>
        <p:spPr>
          <a:xfrm>
            <a:off x="5806388" y="1457325"/>
            <a:ext cx="4785411" cy="4623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550"/>
              <a:buNone/>
              <a:defRPr/>
            </a:pPr>
            <a:r>
              <a:rPr b="1" i="0" lang="en-US" sz="18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Edge vs cloud-hosted (Bedrock / Claude)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20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Edge wins: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privacy, offline operation, no per-call cost, data stays on device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Cloud wins: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model quality, throughput, zero hardware management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This trade-off returns in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Part 6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voice latency budgets force the cloud-vs-local choice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And in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Part 4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edge connectivity breaks naive heartbeat assumptions</a:t>
            </a:r>
            <a:endParaRPr/>
          </a:p>
        </p:txBody>
      </p:sp>
      <p:sp>
        <p:nvSpPr>
          <p:cNvPr id="384" name="Google Shape;384;p18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NanoClaw: Agents at the Edge</a:t>
            </a:r>
            <a:endParaRPr/>
          </a:p>
        </p:txBody>
      </p:sp>
      <p:sp>
        <p:nvSpPr>
          <p:cNvPr id="385" name="Google Shape;385;p18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3 · NANOCLAW</a:t>
            </a:r>
            <a:endParaRPr/>
          </a:p>
        </p:txBody>
      </p:sp>
      <p:sp>
        <p:nvSpPr>
          <p:cNvPr id="386" name="Google Shape;386;p18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387" name="Google Shape;387;p18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 txBox="1"/>
          <p:nvPr>
            <p:ph type="title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/>
            </a:pPr>
            <a:r>
              <a:rPr b="1" i="0"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Heartbeat Mechanisms — Deep Dive</a:t>
            </a:r>
            <a:endParaRPr/>
          </a:p>
        </p:txBody>
      </p:sp>
      <p:sp>
        <p:nvSpPr>
          <p:cNvPr id="393" name="Google Shape;393;p19"/>
          <p:cNvSpPr txBox="1"/>
          <p:nvPr>
            <p:ph idx="1" type="body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700"/>
              <a:buNone/>
              <a:defRPr/>
            </a:pPr>
            <a:r>
              <a:rPr b="0" i="0" lang="en-US" sz="1800">
                <a:solidFill>
                  <a:srgbClr val="E8EEF5"/>
                </a:solidFill>
                <a:latin typeface="Arial"/>
                <a:ea typeface="Arial"/>
                <a:cs typeface="Arial"/>
                <a:sym typeface="Arial"/>
              </a:rPr>
              <a:t>Liveness, readiness and health for agents — including edge agents on unreliable networks.</a:t>
            </a:r>
            <a:endParaRPr/>
          </a:p>
        </p:txBody>
      </p:sp>
      <p:sp>
        <p:nvSpPr>
          <p:cNvPr id="394" name="Google Shape;394;p19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/>
            </a:pPr>
            <a:r>
              <a:rPr b="1" i="0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4  ·  60 MIN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4.1  Three Signals That Are Often Conflated</a:t>
            </a:r>
            <a:endParaRPr/>
          </a:p>
        </p:txBody>
      </p:sp>
      <p:sp>
        <p:nvSpPr>
          <p:cNvPr id="400" name="Google Shape;400;p20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7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Liveness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is the process running at all?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7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Readiness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can it currently accept work?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7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Health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is it running within acceptable performance / error bounds?</a:t>
            </a:r>
            <a:endParaRPr/>
          </a:p>
          <a:p>
            <a:pPr indent="-228600" lvl="0" marL="228600" rtl="0" algn="l">
              <a:lnSpc>
                <a:spcPct val="104000"/>
              </a:lnSpc>
              <a:spcBef>
                <a:spcPts val="2000"/>
              </a:spcBef>
              <a:spcAft>
                <a:spcPts val="0"/>
              </a:spcAft>
              <a:buClr>
                <a:srgbClr val="7B8898"/>
              </a:buClr>
              <a:buSzPts val="1450"/>
              <a:buNone/>
              <a:defRPr/>
            </a:pPr>
            <a:r>
              <a:rPr b="0" i="1" lang="en-US" sz="18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A process can be alive but not ready, or ready but unhealthy — your detection design must say which signal it actually tracks.</a:t>
            </a:r>
            <a:endParaRPr/>
          </a:p>
        </p:txBody>
      </p:sp>
      <p:sp>
        <p:nvSpPr>
          <p:cNvPr id="401" name="Google Shape;401;p20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4 · HEARTBEATS</a:t>
            </a:r>
            <a:endParaRPr/>
          </a:p>
        </p:txBody>
      </p:sp>
      <p:sp>
        <p:nvSpPr>
          <p:cNvPr id="402" name="Google Shape;402;p20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403" name="Google Shape;403;p20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1"/>
          <p:cNvSpPr txBox="1"/>
          <p:nvPr>
            <p:ph idx="1" type="body"/>
          </p:nvPr>
        </p:nvSpPr>
        <p:spPr>
          <a:xfrm>
            <a:off x="838199" y="1457325"/>
            <a:ext cx="4785411" cy="4623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1550"/>
              <a:buNone/>
              <a:defRPr/>
            </a:pPr>
            <a:r>
              <a:rPr b="1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PUSH — agent pings orchestrator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20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Agent proactively sends heartbeats on an interval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Lower orchestrator load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−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Agent must stay well-behaved; a hung agent that keeps beating looks alive</a:t>
            </a:r>
            <a:endParaRPr/>
          </a:p>
        </p:txBody>
      </p:sp>
      <p:sp>
        <p:nvSpPr>
          <p:cNvPr id="409" name="Google Shape;409;p21"/>
          <p:cNvSpPr txBox="1"/>
          <p:nvPr>
            <p:ph idx="2" type="body"/>
          </p:nvPr>
        </p:nvSpPr>
        <p:spPr>
          <a:xfrm>
            <a:off x="5806388" y="1457325"/>
            <a:ext cx="4785411" cy="4623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550"/>
              <a:buNone/>
              <a:defRPr/>
            </a:pPr>
            <a:r>
              <a:rPr b="1" i="0" lang="en-US" sz="18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PULL — orchestrator polls agent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20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Orchestrator actively checks each agent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Simpler, more trustworthy failure detection</a:t>
            </a:r>
            <a:endParaRPr/>
          </a:p>
          <a:p>
            <a:pPr indent="-201168" lvl="0" marL="237744" rtl="0" algn="l">
              <a:lnSpc>
                <a:spcPct val="103000"/>
              </a:lnSpc>
              <a:spcBef>
                <a:spcPts val="1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−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Scales worse as agent count grows</a:t>
            </a:r>
            <a:endParaRPr/>
          </a:p>
        </p:txBody>
      </p:sp>
      <p:sp>
        <p:nvSpPr>
          <p:cNvPr id="410" name="Google Shape;410;p21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4.1  Push vs Pull Heartbeats</a:t>
            </a:r>
            <a:endParaRPr/>
          </a:p>
        </p:txBody>
      </p:sp>
      <p:sp>
        <p:nvSpPr>
          <p:cNvPr id="411" name="Google Shape;411;p21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4 · HEARTBEATS</a:t>
            </a:r>
            <a:endParaRPr/>
          </a:p>
        </p:txBody>
      </p:sp>
      <p:sp>
        <p:nvSpPr>
          <p:cNvPr id="412" name="Google Shape;412;p21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413" name="Google Shape;413;p21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4.1  Interval &amp; TTL Design</a:t>
            </a:r>
            <a:endParaRPr/>
          </a:p>
        </p:txBody>
      </p:sp>
      <p:sp>
        <p:nvSpPr>
          <p:cNvPr id="419" name="Google Shape;419;p22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6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Too frequent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→ noisy streams, wasted Redis throughput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Too infrequent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→ slow failure detection, stale work assignment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600"/>
              </a:spcBef>
              <a:spcAft>
                <a:spcPts val="0"/>
              </a:spcAft>
              <a:buClr>
                <a:srgbClr val="F99D1F"/>
              </a:buClr>
              <a:buSzPts val="1700"/>
              <a:buFont typeface="Arial"/>
              <a:buChar char="▪"/>
              <a:defRPr/>
            </a:pPr>
            <a:r>
              <a:rPr b="1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Rule of thumb: TTL ≈ 2–3× the heartbeat interval</a:t>
            </a:r>
            <a:r>
              <a:rPr b="0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, tuned to the cost of reassigning work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Cheap reassignment → shorter TTL, faster detection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Expensive reassignment → longer TTL, tolerate transient misses</a:t>
            </a:r>
            <a:endParaRPr/>
          </a:p>
        </p:txBody>
      </p:sp>
      <p:sp>
        <p:nvSpPr>
          <p:cNvPr id="420" name="Google Shape;420;p22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4 · HEARTBEATS</a:t>
            </a:r>
            <a:endParaRPr/>
          </a:p>
        </p:txBody>
      </p:sp>
      <p:sp>
        <p:nvSpPr>
          <p:cNvPr id="421" name="Google Shape;421;p22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422" name="Google Shape;422;p22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3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4.2  OpenClaw-Specific Mechanics</a:t>
            </a:r>
            <a:endParaRPr/>
          </a:p>
        </p:txBody>
      </p:sp>
      <p:sp>
        <p:nvSpPr>
          <p:cNvPr id="428" name="Google Shape;428;p23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Transport: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dedicated Redis Stream per agent, or a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TTL'd key per agent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that expires if not refreshed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Detection loop (orchestrator side):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identify a dead / unreachable agent → trigger reassignment of its work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6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Flapping agents need debounce logic: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Require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N consecutive misses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before declaring an agent “down”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Single-miss detection causes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thrashing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agents oscillate between up/down and work gets needlessly reassigned</a:t>
            </a:r>
            <a:endParaRPr/>
          </a:p>
        </p:txBody>
      </p:sp>
      <p:sp>
        <p:nvSpPr>
          <p:cNvPr id="429" name="Google Shape;429;p2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4 · HEARTBEATS</a:t>
            </a:r>
            <a:endParaRPr/>
          </a:p>
        </p:txBody>
      </p:sp>
      <p:sp>
        <p:nvSpPr>
          <p:cNvPr id="430" name="Google Shape;430;p23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431" name="Google Shape;431;p2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4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4.3  Edge Case: NanoClaw Agents</a:t>
            </a:r>
            <a:endParaRPr/>
          </a:p>
        </p:txBody>
      </p:sp>
      <p:sp>
        <p:nvSpPr>
          <p:cNvPr id="437" name="Google Shape;437;p24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Intermittent connectivity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on Pi-class hardware breaks naive heartbeat assumptions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Exponential backoff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on reconnect attempts — don't hammer the orchestrator after a dropout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Last-known-state caching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the orchestrator doesn't prematurely kill / reassign work during a transient blip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6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The core trade-off: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Aggressive detection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→ fast reassignment, but more false positives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Lenient detection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→ fewer false positives, but slower recovery</a:t>
            </a:r>
            <a:endParaRPr/>
          </a:p>
        </p:txBody>
      </p:sp>
      <p:sp>
        <p:nvSpPr>
          <p:cNvPr id="438" name="Google Shape;438;p24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4 · HEARTBEATS</a:t>
            </a:r>
            <a:endParaRPr/>
          </a:p>
        </p:txBody>
      </p:sp>
      <p:sp>
        <p:nvSpPr>
          <p:cNvPr id="439" name="Google Shape;439;p2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440" name="Google Shape;440;p24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5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4.4  Hands-On Lab: Kill and Detect</a:t>
            </a:r>
            <a:endParaRPr/>
          </a:p>
        </p:txBody>
      </p:sp>
      <p:sp>
        <p:nvSpPr>
          <p:cNvPr id="446" name="Google Shape;446;p25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Write an agent process that pushes a heartbeat entry every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seconds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Write an orchestrator loop that flags an agent “down” after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consecutive missed beats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Kill the agent process mid-session and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measure detection time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Adjust N and M, re-test — discuss the resulting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trade-off curve</a:t>
            </a:r>
            <a:endParaRPr/>
          </a:p>
          <a:p>
            <a:pPr indent="-228600" lvl="0" marL="228600" rtl="0" algn="l">
              <a:lnSpc>
                <a:spcPct val="104000"/>
              </a:lnSpc>
              <a:spcBef>
                <a:spcPts val="2000"/>
              </a:spcBef>
              <a:spcAft>
                <a:spcPts val="0"/>
              </a:spcAft>
              <a:buClr>
                <a:srgbClr val="004282"/>
              </a:buClr>
              <a:buSzPts val="1500"/>
              <a:buNone/>
              <a:defRPr/>
            </a:pPr>
            <a:r>
              <a:rPr b="1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Discussion: what N / M values would you choose for a cloud-hosted agent vs a NanoClaw edge agent — and why?</a:t>
            </a:r>
            <a:endParaRPr/>
          </a:p>
        </p:txBody>
      </p:sp>
      <p:sp>
        <p:nvSpPr>
          <p:cNvPr id="447" name="Google Shape;447;p25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4 · LAB</a:t>
            </a:r>
            <a:endParaRPr/>
          </a:p>
        </p:txBody>
      </p:sp>
      <p:sp>
        <p:nvSpPr>
          <p:cNvPr id="448" name="Google Shape;448;p25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449" name="Google Shape;449;p2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6"/>
          <p:cNvSpPr txBox="1"/>
          <p:nvPr>
            <p:ph type="title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/>
            </a:pPr>
            <a:r>
              <a:rPr b="1" i="0"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Skill Writing — Deep Dive</a:t>
            </a:r>
            <a:endParaRPr/>
          </a:p>
        </p:txBody>
      </p:sp>
      <p:sp>
        <p:nvSpPr>
          <p:cNvPr id="455" name="Google Shape;455;p26"/>
          <p:cNvSpPr txBox="1"/>
          <p:nvPr>
            <p:ph idx="1" type="body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700"/>
              <a:buNone/>
              <a:defRPr/>
            </a:pPr>
            <a:r>
              <a:rPr b="0" i="0" lang="en-US" sz="1800">
                <a:solidFill>
                  <a:srgbClr val="E8EEF5"/>
                </a:solidFill>
                <a:latin typeface="Arial"/>
                <a:ea typeface="Arial"/>
                <a:cs typeface="Arial"/>
                <a:sym typeface="Arial"/>
              </a:rPr>
              <a:t>Skills are the agent's capabilities — and the description is the interface, not documentation.</a:t>
            </a:r>
            <a:endParaRPr/>
          </a:p>
        </p:txBody>
      </p:sp>
      <p:sp>
        <p:nvSpPr>
          <p:cNvPr id="456" name="Google Shape;456;p26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/>
            </a:pPr>
            <a:r>
              <a:rPr b="1" i="0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5  ·  60 MIN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5.1  Anatomy of a Skill</a:t>
            </a:r>
            <a:endParaRPr/>
          </a:p>
        </p:txBody>
      </p:sp>
      <p:sp>
        <p:nvSpPr>
          <p:cNvPr id="462" name="Google Shape;462;p27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65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Every skill has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two halves: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Metadata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name, description, trigger conditions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Execution logic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the code that actually runs</a:t>
            </a:r>
            <a:endParaRPr/>
          </a:p>
          <a:p>
            <a:pPr indent="-228600" lvl="0" marL="228600" rtl="0" algn="l">
              <a:lnSpc>
                <a:spcPct val="104000"/>
              </a:lnSpc>
              <a:spcBef>
                <a:spcPts val="2400"/>
              </a:spcBef>
              <a:spcAft>
                <a:spcPts val="0"/>
              </a:spcAft>
              <a:buClr>
                <a:srgbClr val="F99D1F"/>
              </a:buClr>
              <a:buSzPts val="1900"/>
              <a:buNone/>
              <a:defRPr/>
            </a:pPr>
            <a:r>
              <a:rPr b="1" i="0" lang="en-US" sz="19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“The description is not documentation — it is the interface the agent's tool-selection step reads.”</a:t>
            </a:r>
            <a:endParaRPr/>
          </a:p>
          <a:p>
            <a:pPr indent="-228600" lvl="0" marL="228600" rtl="0" algn="l">
              <a:lnSpc>
                <a:spcPct val="104000"/>
              </a:lnSpc>
              <a:spcBef>
                <a:spcPts val="1600"/>
              </a:spcBef>
              <a:spcAft>
                <a:spcPts val="0"/>
              </a:spcAft>
              <a:buClr>
                <a:srgbClr val="7B8898"/>
              </a:buClr>
              <a:buSzPts val="1450"/>
              <a:buNone/>
              <a:defRPr/>
            </a:pPr>
            <a:r>
              <a:rPr b="0" i="1" lang="en-US" sz="18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If the description is wrong, the skill may never fire — no matter how good the code is.</a:t>
            </a:r>
            <a:endParaRPr/>
          </a:p>
        </p:txBody>
      </p:sp>
      <p:sp>
        <p:nvSpPr>
          <p:cNvPr id="463" name="Google Shape;463;p27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5 · SKILLS</a:t>
            </a:r>
            <a:endParaRPr/>
          </a:p>
        </p:txBody>
      </p:sp>
      <p:sp>
        <p:nvSpPr>
          <p:cNvPr id="464" name="Google Shape;464;p27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465" name="Google Shape;465;p27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8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5.2  Writing for Discoverability</a:t>
            </a:r>
            <a:endParaRPr/>
          </a:p>
        </p:txBody>
      </p:sp>
      <p:sp>
        <p:nvSpPr>
          <p:cNvPr id="471" name="Google Shape;471;p28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5 · SKILLS</a:t>
            </a:r>
            <a:endParaRPr/>
          </a:p>
        </p:txBody>
      </p:sp>
      <p:sp>
        <p:nvSpPr>
          <p:cNvPr id="472" name="Google Shape;472;p28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473" name="Google Shape;473;p28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  <p:sp>
        <p:nvSpPr>
          <p:cNvPr id="474" name="Google Shape;474;p28"/>
          <p:cNvSpPr/>
          <p:nvPr/>
        </p:nvSpPr>
        <p:spPr>
          <a:xfrm>
            <a:off x="841248" y="1481328"/>
            <a:ext cx="5120640" cy="2286000"/>
          </a:xfrm>
          <a:prstGeom prst="roundRect">
            <a:avLst>
              <a:gd fmla="val 5000" name="adj"/>
            </a:avLst>
          </a:prstGeom>
          <a:solidFill>
            <a:srgbClr val="FBEA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8"/>
          <p:cNvSpPr txBox="1"/>
          <p:nvPr/>
        </p:nvSpPr>
        <p:spPr>
          <a:xfrm>
            <a:off x="1115568" y="1691640"/>
            <a:ext cx="46177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321E"/>
              </a:buClr>
              <a:buSzPts val="1300"/>
              <a:buFont typeface="Arial"/>
              <a:buNone/>
              <a:defRPr/>
            </a:pPr>
            <a:r>
              <a:rPr b="1" i="0" lang="en-US" sz="1800">
                <a:solidFill>
                  <a:srgbClr val="A3321E"/>
                </a:solidFill>
                <a:latin typeface="Arial"/>
                <a:ea typeface="Arial"/>
                <a:cs typeface="Arial"/>
                <a:sym typeface="Arial"/>
              </a:rPr>
              <a:t>BAD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3321E"/>
              </a:buClr>
              <a:buSzPts val="2000"/>
              <a:buFont typeface="Arial"/>
              <a:buNone/>
              <a:defRPr/>
            </a:pPr>
            <a:r>
              <a:rPr b="1" i="0" lang="en-US" sz="2000">
                <a:solidFill>
                  <a:srgbClr val="A3321E"/>
                </a:solidFill>
                <a:latin typeface="Arial"/>
                <a:ea typeface="Arial"/>
                <a:cs typeface="Arial"/>
                <a:sym typeface="Arial"/>
              </a:rPr>
              <a:t>“Handles data stuff”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B343F"/>
              </a:buClr>
              <a:buSzPts val="1350"/>
              <a:buFont typeface="Arial"/>
              <a:buNone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Vague descriptions cause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missed or misfired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skill invocations.</a:t>
            </a:r>
            <a:endParaRPr/>
          </a:p>
        </p:txBody>
      </p:sp>
      <p:sp>
        <p:nvSpPr>
          <p:cNvPr id="476" name="Google Shape;476;p28"/>
          <p:cNvSpPr/>
          <p:nvPr/>
        </p:nvSpPr>
        <p:spPr>
          <a:xfrm>
            <a:off x="6263640" y="1481328"/>
            <a:ext cx="5120640" cy="2286000"/>
          </a:xfrm>
          <a:prstGeom prst="roundRect">
            <a:avLst>
              <a:gd fmla="val 5000" name="adj"/>
            </a:avLst>
          </a:prstGeom>
          <a:solidFill>
            <a:srgbClr val="E7F4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8"/>
          <p:cNvSpPr txBox="1"/>
          <p:nvPr/>
        </p:nvSpPr>
        <p:spPr>
          <a:xfrm>
            <a:off x="6537960" y="1567576"/>
            <a:ext cx="4617720" cy="2144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E3A"/>
              </a:buClr>
              <a:buSzPts val="1300"/>
              <a:buFont typeface="Arial"/>
              <a:buNone/>
              <a:defRPr/>
            </a:pPr>
            <a:r>
              <a:rPr b="1" i="0" lang="en-US" sz="1800">
                <a:solidFill>
                  <a:srgbClr val="1E5E3A"/>
                </a:solidFill>
                <a:latin typeface="Arial"/>
                <a:ea typeface="Arial"/>
                <a:cs typeface="Arial"/>
                <a:sym typeface="Arial"/>
              </a:rPr>
              <a:t>GOOD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5E3A"/>
              </a:buClr>
              <a:buSzPts val="1500"/>
              <a:buFont typeface="Arial"/>
              <a:buNone/>
              <a:defRPr/>
            </a:pPr>
            <a:r>
              <a:rPr b="1" i="0" lang="en-US" sz="1800">
                <a:solidFill>
                  <a:srgbClr val="1E5E3A"/>
                </a:solidFill>
                <a:latin typeface="Arial"/>
                <a:ea typeface="Arial"/>
                <a:cs typeface="Arial"/>
                <a:sym typeface="Arial"/>
              </a:rPr>
              <a:t>“Fetches current weather for a given city and date; use only when the user asks about weather conditions, not climate history.”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B343F"/>
              </a:buClr>
              <a:buSzPts val="1350"/>
              <a:buFont typeface="Arial"/>
              <a:buNone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Specific scope + explicit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when-to-use / when-not-to-use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boundaries.</a:t>
            </a:r>
            <a:endParaRPr/>
          </a:p>
        </p:txBody>
      </p:sp>
      <p:sp>
        <p:nvSpPr>
          <p:cNvPr id="478" name="Google Shape;478;p28"/>
          <p:cNvSpPr txBox="1"/>
          <p:nvPr/>
        </p:nvSpPr>
        <p:spPr>
          <a:xfrm>
            <a:off x="841248" y="4069080"/>
            <a:ext cx="106070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1168" lvl="0" marL="23774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Exercise: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critique 3–4 deliberately weak skill descriptions and rewrite them.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7B8898"/>
              </a:buClr>
              <a:buSzPts val="1450"/>
              <a:buFont typeface="Arial"/>
              <a:buNone/>
              <a:defRPr/>
            </a:pPr>
            <a:r>
              <a:rPr b="0" i="0" lang="en-US" sz="18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A good description names the action, the inputs, and the boundaries of when it applies.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9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5.3  Security Angle (OWASP Agentic Applications)</a:t>
            </a:r>
            <a:endParaRPr/>
          </a:p>
        </p:txBody>
      </p:sp>
      <p:sp>
        <p:nvSpPr>
          <p:cNvPr id="484" name="Google Shape;484;p29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Sandboxing execution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isolate skill code so a malicious or buggy skill can't escalate privileges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Input validation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validate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agent-generated parameters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before execution (the model is an untrusted caller)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Output validation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sanitize skill output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before it re-enters the agent's context / loop</a:t>
            </a:r>
            <a:endParaRPr/>
          </a:p>
          <a:p>
            <a:pPr indent="-228600" lvl="0" marL="228600" rtl="0" algn="l">
              <a:lnSpc>
                <a:spcPct val="104000"/>
              </a:lnSpc>
              <a:spcBef>
                <a:spcPts val="2000"/>
              </a:spcBef>
              <a:spcAft>
                <a:spcPts val="0"/>
              </a:spcAft>
              <a:buClr>
                <a:srgbClr val="7B8898"/>
              </a:buClr>
              <a:buSzPts val="1400"/>
              <a:buNone/>
              <a:defRPr/>
            </a:pPr>
            <a:r>
              <a:rPr b="0" i="1" lang="en-US" sz="18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Reference: </a:t>
            </a:r>
            <a:r>
              <a:rPr b="1" i="1" lang="en-US" sz="18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OWASP Agentic Applications Cheat Sheet</a:t>
            </a:r>
            <a:endParaRPr/>
          </a:p>
        </p:txBody>
      </p:sp>
      <p:sp>
        <p:nvSpPr>
          <p:cNvPr id="485" name="Google Shape;485;p29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5 · SKILLS</a:t>
            </a:r>
            <a:endParaRPr/>
          </a:p>
        </p:txBody>
      </p:sp>
      <p:sp>
        <p:nvSpPr>
          <p:cNvPr id="486" name="Google Shape;486;p29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487" name="Google Shape;487;p29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0"/>
          <p:cNvSpPr txBox="1"/>
          <p:nvPr>
            <p:ph type="ctrTitle"/>
          </p:nvPr>
        </p:nvSpPr>
        <p:spPr>
          <a:xfrm>
            <a:off x="841248" y="548640"/>
            <a:ext cx="10607040" cy="8923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5.4  Hands-On Lab: Make It Fire (and Only When It Should)</a:t>
            </a:r>
            <a:endParaRPr/>
          </a:p>
        </p:txBody>
      </p:sp>
      <p:sp>
        <p:nvSpPr>
          <p:cNvPr id="493" name="Google Shape;493;p30"/>
          <p:cNvSpPr txBox="1"/>
          <p:nvPr>
            <p:ph idx="1" type="body"/>
          </p:nvPr>
        </p:nvSpPr>
        <p:spPr>
          <a:xfrm>
            <a:off x="841248" y="1541570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Write a simple skill (e.g. a unit converter) with a clear description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Register it and confirm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correct invocation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on a matching prompt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“Vague-ify” the description and re-test — observe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misfire / no-invoke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Restore the description, add basic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input validation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, try an adversarial input — confirm rejection</a:t>
            </a:r>
            <a:endParaRPr/>
          </a:p>
        </p:txBody>
      </p:sp>
      <p:sp>
        <p:nvSpPr>
          <p:cNvPr id="494" name="Google Shape;494;p30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5 · LAB</a:t>
            </a:r>
            <a:endParaRPr/>
          </a:p>
        </p:txBody>
      </p:sp>
      <p:sp>
        <p:nvSpPr>
          <p:cNvPr id="495" name="Google Shape;495;p30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496" name="Google Shape;496;p30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1"/>
          <p:cNvSpPr txBox="1"/>
          <p:nvPr>
            <p:ph type="title"/>
          </p:nvPr>
        </p:nvSpPr>
        <p:spPr>
          <a:xfrm>
            <a:off x="838200" y="2468880"/>
            <a:ext cx="10325100" cy="1220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/>
            </a:pPr>
            <a:r>
              <a:rPr b="1" i="0"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 Integration — Messaging &amp; Voice</a:t>
            </a:r>
            <a:endParaRPr/>
          </a:p>
        </p:txBody>
      </p:sp>
      <p:sp>
        <p:nvSpPr>
          <p:cNvPr id="502" name="Google Shape;502;p31"/>
          <p:cNvSpPr txBox="1"/>
          <p:nvPr>
            <p:ph idx="1" type="body"/>
          </p:nvPr>
        </p:nvSpPr>
        <p:spPr>
          <a:xfrm>
            <a:off x="838199" y="3744032"/>
            <a:ext cx="10326011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700"/>
              <a:buNone/>
              <a:defRPr/>
            </a:pPr>
            <a:r>
              <a:rPr b="0" i="0" lang="en-US" sz="1800">
                <a:solidFill>
                  <a:srgbClr val="E8EEF5"/>
                </a:solidFill>
                <a:latin typeface="Arial"/>
                <a:ea typeface="Arial"/>
                <a:cs typeface="Arial"/>
                <a:sym typeface="Arial"/>
              </a:rPr>
              <a:t>Telegram, WhatsApp and voice: getting real users connected to your agents — and handling each channel's failure modes.</a:t>
            </a:r>
            <a:endParaRPr/>
          </a:p>
        </p:txBody>
      </p:sp>
      <p:sp>
        <p:nvSpPr>
          <p:cNvPr id="503" name="Google Shape;503;p31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/>
            </a:pPr>
            <a:r>
              <a:rPr b="1" i="0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6  ·  60 MIN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2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6.1  Messaging Channels: Telegram &amp; WhatsApp</a:t>
            </a:r>
            <a:endParaRPr/>
          </a:p>
        </p:txBody>
      </p:sp>
      <p:sp>
        <p:nvSpPr>
          <p:cNvPr id="509" name="Google Shape;509;p32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Webhook vs long-polling ingestion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how an inbound message becomes an event on the OpenClaw Redis Stream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Session mapping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map chat / session ID → agent instance so multi-turn conversation state stays coherent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Channel-specific quirks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message length limits, rich media (images, voice notes sent as files), delivery / read receipts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Rate limits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both platforms throttle aggressively; send replies with retry / backoff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6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Demo:</a:t>
            </a:r>
            <a:r>
              <a:rPr b="0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 inbound Telegram message → OpenClaw agent → skill invocation → reply back to the same chat</a:t>
            </a:r>
            <a:endParaRPr/>
          </a:p>
        </p:txBody>
      </p:sp>
      <p:sp>
        <p:nvSpPr>
          <p:cNvPr id="510" name="Google Shape;510;p32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6 · CHANNELS</a:t>
            </a:r>
            <a:endParaRPr/>
          </a:p>
        </p:txBody>
      </p:sp>
      <p:sp>
        <p:nvSpPr>
          <p:cNvPr id="511" name="Google Shape;511;p32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512" name="Google Shape;512;p32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3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6.2  Voice Channels</a:t>
            </a:r>
            <a:endParaRPr/>
          </a:p>
        </p:txBody>
      </p:sp>
      <p:sp>
        <p:nvSpPr>
          <p:cNvPr id="518" name="Google Shape;518;p33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Two integration patterns: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550"/>
              <a:buFont typeface="Arial"/>
              <a:buChar char="–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Turn-based: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record → transcribe → agent → synthesize → play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550"/>
              <a:buFont typeface="Arial"/>
              <a:buChar char="–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Streaming: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continuous ASR / TTS with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barge-in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support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4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ASR / TTS sit outside Hermes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transcription happens before the model call, synthesis after; the agent still reasons over text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Latency budget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voice has a much tighter round-trip tolerance than messaging; this drives the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cloud vs NanoClaw-local inference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choice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Interruptions / barge-in and silence detection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a UX problem, not just a technical one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40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1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Demo / walkthrough:</a:t>
            </a:r>
            <a:r>
              <a:rPr b="0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 a short voice round-trip through the same OpenClaw agent from the messaging demo</a:t>
            </a:r>
            <a:endParaRPr/>
          </a:p>
        </p:txBody>
      </p:sp>
      <p:sp>
        <p:nvSpPr>
          <p:cNvPr id="519" name="Google Shape;519;p3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6 · CHANNELS</a:t>
            </a:r>
            <a:endParaRPr/>
          </a:p>
        </p:txBody>
      </p:sp>
      <p:sp>
        <p:nvSpPr>
          <p:cNvPr id="520" name="Google Shape;520;p33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521" name="Google Shape;521;p3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4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6.3  Channel Abstraction in OpenClaw</a:t>
            </a:r>
            <a:endParaRPr/>
          </a:p>
        </p:txBody>
      </p: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Channels are a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thin adapter layer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, not baked into agent logic — the agent shouldn't know if it's talking to Telegram, WhatsApp, or a mic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Normalize inbound events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(text, voice-transcribed-to-text, media) into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one internal message format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before they hit the Redis Stream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Intersection with heartbeats (Part 4):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the channel adapter itself needs liveness tracking — a dead webhook listener is as bad as a dead agent</a:t>
            </a:r>
            <a:endParaRPr/>
          </a:p>
        </p:txBody>
      </p:sp>
      <p:sp>
        <p:nvSpPr>
          <p:cNvPr id="528" name="Google Shape;528;p34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6 · CHANNELS</a:t>
            </a:r>
            <a:endParaRPr/>
          </a:p>
        </p:txBody>
      </p:sp>
      <p:sp>
        <p:nvSpPr>
          <p:cNvPr id="529" name="Google Shape;529;p3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530" name="Google Shape;530;p34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5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6.4  Hands-On Lab: Wire a Channel</a:t>
            </a:r>
            <a:endParaRPr/>
          </a:p>
        </p:txBody>
      </p:sp>
      <p:sp>
        <p:nvSpPr>
          <p:cNvPr id="536" name="Google Shape;536;p35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Wire one messaging channel (Telegram or WhatsApp sandbox / test account) to your Part 1 OpenClaw agent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Send a message that triggers the Part 5 skill; confirm the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reply round-trips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correctly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Discuss: what would need to change to add a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second channel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without touching agent logic?</a:t>
            </a:r>
            <a:endParaRPr/>
          </a:p>
        </p:txBody>
      </p:sp>
      <p:sp>
        <p:nvSpPr>
          <p:cNvPr id="537" name="Google Shape;537;p35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6 · LAB</a:t>
            </a:r>
            <a:endParaRPr/>
          </a:p>
        </p:txBody>
      </p:sp>
      <p:sp>
        <p:nvSpPr>
          <p:cNvPr id="538" name="Google Shape;538;p35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539" name="Google Shape;539;p3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6"/>
          <p:cNvSpPr txBox="1"/>
          <p:nvPr>
            <p:ph type="title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/>
            </a:pPr>
            <a:r>
              <a:rPr b="1" i="0"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A2A Setup — a One-of-its-Kind Protocol</a:t>
            </a:r>
            <a:endParaRPr/>
          </a:p>
        </p:txBody>
      </p:sp>
      <p:sp>
        <p:nvSpPr>
          <p:cNvPr id="545" name="Google Shape;545;p36"/>
          <p:cNvSpPr txBox="1"/>
          <p:nvPr>
            <p:ph idx="1" type="body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700"/>
              <a:buNone/>
              <a:defRPr/>
            </a:pPr>
            <a:r>
              <a:rPr b="0" i="0" lang="en-US" sz="1800">
                <a:solidFill>
                  <a:srgbClr val="E8EEF5"/>
                </a:solidFill>
                <a:latin typeface="Arial"/>
                <a:ea typeface="Arial"/>
                <a:cs typeface="Arial"/>
                <a:sym typeface="Arial"/>
              </a:rPr>
              <a:t>Designing a custom agent-to-agent protocol that is natively stream-based, heartbeat-aware and channel-agnostic.</a:t>
            </a:r>
            <a:endParaRPr/>
          </a:p>
        </p:txBody>
      </p:sp>
      <p:sp>
        <p:nvSpPr>
          <p:cNvPr id="546" name="Google Shape;546;p36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/>
            </a:pPr>
            <a:r>
              <a:rPr b="1" i="0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7  ·  60 MIN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7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7.1  Why Not Just Use an Off-the-Shelf A2A Standard?</a:t>
            </a:r>
            <a:endParaRPr/>
          </a:p>
        </p:txBody>
      </p:sp>
      <p:sp>
        <p:nvSpPr>
          <p:cNvPr id="552" name="Google Shape;552;p37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The emerging A2A landscape: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agent-card discovery, task-based request / response protocols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They assume infrastructure OpenClaw doesn't need: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HTTP-centric, synchronous request / response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600"/>
              </a:spcBef>
              <a:spcAft>
                <a:spcPts val="0"/>
              </a:spcAft>
              <a:buClr>
                <a:srgbClr val="F99D1F"/>
              </a:buClr>
              <a:buSzPts val="1650"/>
              <a:buFont typeface="Arial"/>
              <a:buChar char="▪"/>
              <a:defRPr/>
            </a:pPr>
            <a:r>
              <a:rPr b="1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OpenClaw's differentiator: Redis Streams as the transport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55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Durable, replayable, multi-consumer messaging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for free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most A2A protocols bolt this on top of plain HTTP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6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Design goal: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an A2A layer that is natively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stream-based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heartbeat-aware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(Part 4) and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channel-agnostic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(Part 6) — not a generic point-to-point RPC</a:t>
            </a:r>
            <a:endParaRPr/>
          </a:p>
        </p:txBody>
      </p:sp>
      <p:sp>
        <p:nvSpPr>
          <p:cNvPr id="553" name="Google Shape;553;p37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7 · A2A</a:t>
            </a:r>
            <a:endParaRPr/>
          </a:p>
        </p:txBody>
      </p:sp>
      <p:sp>
        <p:nvSpPr>
          <p:cNvPr id="554" name="Google Shape;554;p37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555" name="Google Shape;555;p37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8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7.2  Anatomy of the Custom Protocol</a:t>
            </a:r>
            <a:endParaRPr/>
          </a:p>
        </p:txBody>
      </p:sp>
      <p:sp>
        <p:nvSpPr>
          <p:cNvPr id="561" name="Google Shape;561;p38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Message envelope: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sender agent ID · recipient agent ID (or broadcast topic) · task ID · payload ·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correlation ID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for multi-turn task tracking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Stream topology: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one stream per agent inbox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shared topic streams with consumer groups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500"/>
              <a:buFont typeface="Arial"/>
              <a:buChar char="–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Fan-out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(broadcast to many agents) vs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fan-in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(many agents reporting to one orchestrator) trade-offs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40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Task lifecycle states: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proposed → accepted → in-progress → completed / failed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5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Mirrored as stream entries — any consumer can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reconstruct task history from the stream itself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(replayability as a debugging feature)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40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1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Key difference:</a:t>
            </a:r>
            <a:r>
              <a:rPr b="0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 typical A2A treats discovery &amp; negotiation as separate from transport; here they're </a:t>
            </a:r>
            <a:r>
              <a:rPr b="1" i="0" lang="en-US" sz="18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unified — the stream itself is the source of truth</a:t>
            </a:r>
            <a:endParaRPr/>
          </a:p>
        </p:txBody>
      </p:sp>
      <p:sp>
        <p:nvSpPr>
          <p:cNvPr id="562" name="Google Shape;562;p38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7 · A2A</a:t>
            </a:r>
            <a:endParaRPr/>
          </a:p>
        </p:txBody>
      </p:sp>
      <p:sp>
        <p:nvSpPr>
          <p:cNvPr id="563" name="Google Shape;563;p38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564" name="Google Shape;564;p38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9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7.3  Integrating Heartbeats and Skills into A2A</a:t>
            </a:r>
            <a:endParaRPr/>
          </a:p>
        </p:txBody>
      </p:sp>
      <p:sp>
        <p:nvSpPr>
          <p:cNvPr id="570" name="Google Shape;570;p39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Reuse the Part 4 heartbeat stream as a capability-advertisement channel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The heartbeat payload includes which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skills (Part 5)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the agent currently has registered → the orchestrator's routing decision uses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one lookup instead of two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6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Routing logic: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Incoming task → match required skill → find agents advertising that skill → filter to agents with a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live heartbeat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→ dispatch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6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Failure handling unique to this design: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tasks live on a replayable stream, so a newly-spun-up agent (or a recovering NanoClaw device)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catches up on missed assignments by re-reading from its last acknowledged offset</a:t>
            </a:r>
            <a:endParaRPr/>
          </a:p>
        </p:txBody>
      </p:sp>
      <p:sp>
        <p:nvSpPr>
          <p:cNvPr id="571" name="Google Shape;571;p39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7 · A2A</a:t>
            </a:r>
            <a:endParaRPr/>
          </a:p>
        </p:txBody>
      </p:sp>
      <p:sp>
        <p:nvSpPr>
          <p:cNvPr id="572" name="Google Shape;572;p39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573" name="Google Shape;573;p39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0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7.4  Hands-On Lab: Kill, Restart, Resume</a:t>
            </a:r>
            <a:endParaRPr/>
          </a:p>
        </p:txBody>
      </p:sp>
      <p:sp>
        <p:nvSpPr>
          <p:cNvPr id="579" name="Google Shape;579;p40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Define the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message envelope schema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for the custom A2A protocol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Implement a two-agent exchange: Agent A proposes a task; Agent B accepts and reports progress via stream entries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Kill and restart Agent B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mid-task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confirm it resumes from the stream rather than losing task state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Discuss: what would break if you swapped this for a standard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synchronous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A2A protocol? What would you lose — and what would you gain?</a:t>
            </a:r>
            <a:endParaRPr/>
          </a:p>
        </p:txBody>
      </p:sp>
      <p:sp>
        <p:nvSpPr>
          <p:cNvPr id="580" name="Google Shape;580;p40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PART 7 · LAB</a:t>
            </a:r>
            <a:endParaRPr/>
          </a:p>
        </p:txBody>
      </p:sp>
      <p:sp>
        <p:nvSpPr>
          <p:cNvPr id="581" name="Google Shape;581;p40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582" name="Google Shape;582;p40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1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Combined Lab: End-to-End Channel-to-Skill Flow</a:t>
            </a:r>
            <a:endParaRPr/>
          </a:p>
        </p:txBody>
      </p:sp>
      <p:sp>
        <p:nvSpPr>
          <p:cNvPr id="588" name="Google Shape;588;p41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20 MIN · TIES ALL 7 PARTS TOGETHER</a:t>
            </a:r>
            <a:endParaRPr/>
          </a:p>
        </p:txBody>
      </p:sp>
      <p:sp>
        <p:nvSpPr>
          <p:cNvPr id="589" name="Google Shape;589;p41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590" name="Google Shape;590;p41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/>
          </a:p>
        </p:txBody>
      </p:sp>
      <p:sp>
        <p:nvSpPr>
          <p:cNvPr id="591" name="Google Shape;591;p41"/>
          <p:cNvSpPr txBox="1"/>
          <p:nvPr/>
        </p:nvSpPr>
        <p:spPr>
          <a:xfrm>
            <a:off x="841248" y="1380744"/>
            <a:ext cx="10607040" cy="1006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F"/>
              </a:buClr>
              <a:buSzPts val="1400"/>
              <a:buFont typeface="Arial"/>
              <a:buNone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a message (or voice input) arrives over a real channel → routed via the custom A2A protocol to a NanoClaw edge agent running Hermes → invokes a registered skill — while the OpenClaw orchestrator only dispatches to agents with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healthy heartbeats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advertising the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right capability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592" name="Google Shape;592;p41"/>
          <p:cNvSpPr/>
          <p:nvPr/>
        </p:nvSpPr>
        <p:spPr>
          <a:xfrm>
            <a:off x="841248" y="2451608"/>
            <a:ext cx="1874519" cy="731520"/>
          </a:xfrm>
          <a:prstGeom prst="roundRect">
            <a:avLst>
              <a:gd fmla="val 14000" name="adj"/>
            </a:avLst>
          </a:prstGeom>
          <a:solidFill>
            <a:srgbClr val="00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Channel message</a:t>
            </a:r>
            <a:endParaRPr/>
          </a:p>
        </p:txBody>
      </p:sp>
      <p:sp>
        <p:nvSpPr>
          <p:cNvPr id="593" name="Google Shape;593;p41"/>
          <p:cNvSpPr/>
          <p:nvPr/>
        </p:nvSpPr>
        <p:spPr>
          <a:xfrm>
            <a:off x="2752343" y="2661920"/>
            <a:ext cx="2743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9D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1"/>
          <p:cNvSpPr/>
          <p:nvPr/>
        </p:nvSpPr>
        <p:spPr>
          <a:xfrm>
            <a:off x="3054096" y="2451608"/>
            <a:ext cx="1874519" cy="731520"/>
          </a:xfrm>
          <a:prstGeom prst="roundRect">
            <a:avLst>
              <a:gd fmla="val 14000" name="adj"/>
            </a:avLst>
          </a:prstGeom>
          <a:solidFill>
            <a:srgbClr val="2C5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A2A routing</a:t>
            </a:r>
            <a:endParaRPr/>
          </a:p>
        </p:txBody>
      </p:sp>
      <p:sp>
        <p:nvSpPr>
          <p:cNvPr id="595" name="Google Shape;595;p41"/>
          <p:cNvSpPr/>
          <p:nvPr/>
        </p:nvSpPr>
        <p:spPr>
          <a:xfrm>
            <a:off x="4965191" y="2661920"/>
            <a:ext cx="2743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9D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1"/>
          <p:cNvSpPr/>
          <p:nvPr/>
        </p:nvSpPr>
        <p:spPr>
          <a:xfrm>
            <a:off x="5266944" y="2451608"/>
            <a:ext cx="1874519" cy="731520"/>
          </a:xfrm>
          <a:prstGeom prst="roundRect">
            <a:avLst>
              <a:gd fmla="val 14000" name="adj"/>
            </a:avLst>
          </a:prstGeom>
          <a:solidFill>
            <a:srgbClr val="4949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Healthy edge agent</a:t>
            </a:r>
            <a:endParaRPr/>
          </a:p>
        </p:txBody>
      </p:sp>
      <p:sp>
        <p:nvSpPr>
          <p:cNvPr id="597" name="Google Shape;597;p41"/>
          <p:cNvSpPr/>
          <p:nvPr/>
        </p:nvSpPr>
        <p:spPr>
          <a:xfrm>
            <a:off x="7178039" y="2661920"/>
            <a:ext cx="2743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9D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41"/>
          <p:cNvSpPr/>
          <p:nvPr/>
        </p:nvSpPr>
        <p:spPr>
          <a:xfrm>
            <a:off x="7479792" y="2451608"/>
            <a:ext cx="1874519" cy="731520"/>
          </a:xfrm>
          <a:prstGeom prst="roundRect">
            <a:avLst>
              <a:gd fmla="val 14000" name="adj"/>
            </a:avLst>
          </a:prstGeom>
          <a:solidFill>
            <a:srgbClr val="F99D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Skill invocation</a:t>
            </a:r>
            <a:endParaRPr/>
          </a:p>
        </p:txBody>
      </p:sp>
      <p:sp>
        <p:nvSpPr>
          <p:cNvPr id="599" name="Google Shape;599;p41"/>
          <p:cNvSpPr/>
          <p:nvPr/>
        </p:nvSpPr>
        <p:spPr>
          <a:xfrm>
            <a:off x="9390887" y="2661920"/>
            <a:ext cx="2743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9D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41"/>
          <p:cNvSpPr/>
          <p:nvPr/>
        </p:nvSpPr>
        <p:spPr>
          <a:xfrm>
            <a:off x="9692640" y="2451608"/>
            <a:ext cx="1874519" cy="731520"/>
          </a:xfrm>
          <a:prstGeom prst="roundRect">
            <a:avLst>
              <a:gd fmla="val 14000" name="adj"/>
            </a:avLst>
          </a:prstGeom>
          <a:solidFill>
            <a:srgbClr val="00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Reply on same channel</a:t>
            </a:r>
            <a:endParaRPr/>
          </a:p>
        </p:txBody>
      </p:sp>
      <p:sp>
        <p:nvSpPr>
          <p:cNvPr id="601" name="Google Shape;601;p41"/>
          <p:cNvSpPr txBox="1"/>
          <p:nvPr/>
        </p:nvSpPr>
        <p:spPr>
          <a:xfrm>
            <a:off x="841248" y="3474720"/>
            <a:ext cx="106070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1168" lvl="0" marL="23774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Confirm your Part 6 channel-wired agent is the same NanoClaw + Hermes agent from Part 3 — with the Part 5 skill, Part 4 heartbeat producer and Part 7 A2A envelope handling in place</a:t>
            </a:r>
            <a:endParaRPr/>
          </a:p>
          <a:p>
            <a:pPr indent="-201168" lvl="0" marL="237744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Send a channel message that requires the skill to be invoked</a:t>
            </a:r>
            <a:endParaRPr/>
          </a:p>
          <a:p>
            <a:pPr indent="-201168" lvl="0" marL="237744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Orchestrator uses Part 7 routing (skill match + live heartbeat) to select and dispatch to the edge agent</a:t>
            </a:r>
            <a:endParaRPr/>
          </a:p>
          <a:p>
            <a:pPr indent="-201168" lvl="0" marL="237744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Simulate the edge agent going down mid-task — confirm the orchestrator reroutes / queues, and a recovering agent resumes from the stream</a:t>
            </a:r>
            <a:endParaRPr/>
          </a:p>
          <a:p>
            <a:pPr indent="-201168" lvl="0" marL="237744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99D1F"/>
              </a:buClr>
              <a:buSzPts val="140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Discuss: how does replayability change “what happens to an in-flight task” — and how does that surface to the user over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messaging vs voice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differently?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2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Wrap-Up: The Seven-Layer Story</a:t>
            </a:r>
            <a:endParaRPr/>
          </a:p>
        </p:txBody>
      </p:sp>
      <p:sp>
        <p:nvSpPr>
          <p:cNvPr id="607" name="Google Shape;607;p42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RECAP</a:t>
            </a:r>
            <a:endParaRPr/>
          </a:p>
        </p:txBody>
      </p:sp>
      <p:sp>
        <p:nvSpPr>
          <p:cNvPr id="608" name="Google Shape;608;p42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609" name="Google Shape;609;p42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  <a:endParaRPr/>
          </a:p>
        </p:txBody>
      </p:sp>
      <p:sp>
        <p:nvSpPr>
          <p:cNvPr id="610" name="Google Shape;610;p42"/>
          <p:cNvSpPr/>
          <p:nvPr/>
        </p:nvSpPr>
        <p:spPr>
          <a:xfrm>
            <a:off x="841248" y="1517904"/>
            <a:ext cx="1371600" cy="868680"/>
          </a:xfrm>
          <a:prstGeom prst="roundRect">
            <a:avLst>
              <a:gd fmla="val 14000" name="adj"/>
            </a:avLst>
          </a:prstGeom>
          <a:solidFill>
            <a:srgbClr val="2C5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  <a:defRPr/>
            </a:pPr>
            <a:r>
              <a:rPr b="1" i="0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OpenClaw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/>
            </a:pPr>
            <a:r>
              <a:rPr b="0" i="0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orchestration</a:t>
            </a:r>
            <a:endParaRPr/>
          </a:p>
        </p:txBody>
      </p:sp>
      <p:sp>
        <p:nvSpPr>
          <p:cNvPr id="611" name="Google Shape;611;p42"/>
          <p:cNvSpPr/>
          <p:nvPr/>
        </p:nvSpPr>
        <p:spPr>
          <a:xfrm>
            <a:off x="2231136" y="1819656"/>
            <a:ext cx="146304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B88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2"/>
          <p:cNvSpPr/>
          <p:nvPr/>
        </p:nvSpPr>
        <p:spPr>
          <a:xfrm>
            <a:off x="2368296" y="1517904"/>
            <a:ext cx="1371600" cy="868680"/>
          </a:xfrm>
          <a:prstGeom prst="roundRect">
            <a:avLst>
              <a:gd fmla="val 14000" name="adj"/>
            </a:avLst>
          </a:prstGeom>
          <a:solidFill>
            <a:srgbClr val="00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1150"/>
              <a:buFont typeface="Arial"/>
              <a:buNone/>
              <a:defRPr/>
            </a:pPr>
            <a:r>
              <a:rPr b="1" i="0" lang="en-US" sz="1150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Hermes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800"/>
              <a:buFont typeface="Arial"/>
              <a:buNone/>
              <a:defRPr/>
            </a:pPr>
            <a:r>
              <a:rPr b="0" i="0" lang="en-US" sz="800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</p:txBody>
      </p:sp>
      <p:sp>
        <p:nvSpPr>
          <p:cNvPr id="613" name="Google Shape;613;p42"/>
          <p:cNvSpPr/>
          <p:nvPr/>
        </p:nvSpPr>
        <p:spPr>
          <a:xfrm>
            <a:off x="3758184" y="1819656"/>
            <a:ext cx="146304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B88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42"/>
          <p:cNvSpPr/>
          <p:nvPr/>
        </p:nvSpPr>
        <p:spPr>
          <a:xfrm>
            <a:off x="3895344" y="1517904"/>
            <a:ext cx="1371600" cy="868680"/>
          </a:xfrm>
          <a:prstGeom prst="roundRect">
            <a:avLst>
              <a:gd fmla="val 14000" name="adj"/>
            </a:avLst>
          </a:prstGeom>
          <a:solidFill>
            <a:srgbClr val="F99D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1150"/>
              <a:buFont typeface="Arial"/>
              <a:buNone/>
              <a:defRPr/>
            </a:pPr>
            <a:r>
              <a:rPr b="1" i="0" lang="en-US" sz="1150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NanoClaw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6"/>
              </a:buClr>
              <a:buSzPts val="800"/>
              <a:buFont typeface="Arial"/>
              <a:buNone/>
              <a:defRPr/>
            </a:pPr>
            <a:r>
              <a:rPr b="0" i="0" lang="en-US" sz="800">
                <a:solidFill>
                  <a:srgbClr val="1F2A36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endParaRPr/>
          </a:p>
        </p:txBody>
      </p:sp>
      <p:sp>
        <p:nvSpPr>
          <p:cNvPr id="615" name="Google Shape;615;p42"/>
          <p:cNvSpPr/>
          <p:nvPr/>
        </p:nvSpPr>
        <p:spPr>
          <a:xfrm>
            <a:off x="5285232" y="1819656"/>
            <a:ext cx="146304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B88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2"/>
          <p:cNvSpPr/>
          <p:nvPr/>
        </p:nvSpPr>
        <p:spPr>
          <a:xfrm>
            <a:off x="5422392" y="1517904"/>
            <a:ext cx="1371600" cy="868680"/>
          </a:xfrm>
          <a:prstGeom prst="roundRect">
            <a:avLst>
              <a:gd fmla="val 14000" name="adj"/>
            </a:avLst>
          </a:prstGeom>
          <a:solidFill>
            <a:srgbClr val="4949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  <a:defRPr/>
            </a:pPr>
            <a:r>
              <a:rPr b="1" i="0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Heartbeats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/>
            </a:pPr>
            <a:r>
              <a:rPr b="0" i="0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trust in state</a:t>
            </a:r>
            <a:endParaRPr/>
          </a:p>
        </p:txBody>
      </p:sp>
      <p:sp>
        <p:nvSpPr>
          <p:cNvPr id="617" name="Google Shape;617;p42"/>
          <p:cNvSpPr/>
          <p:nvPr/>
        </p:nvSpPr>
        <p:spPr>
          <a:xfrm>
            <a:off x="6812280" y="1819656"/>
            <a:ext cx="146304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B88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2"/>
          <p:cNvSpPr/>
          <p:nvPr/>
        </p:nvSpPr>
        <p:spPr>
          <a:xfrm>
            <a:off x="6949440" y="1517904"/>
            <a:ext cx="1371600" cy="868680"/>
          </a:xfrm>
          <a:prstGeom prst="roundRect">
            <a:avLst>
              <a:gd fmla="val 14000" name="adj"/>
            </a:avLst>
          </a:prstGeom>
          <a:solidFill>
            <a:srgbClr val="4949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  <a:defRPr/>
            </a:pPr>
            <a:r>
              <a:rPr b="1" i="0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Skills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/>
            </a:pPr>
            <a:r>
              <a:rPr b="0" i="0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trust in capability</a:t>
            </a:r>
            <a:endParaRPr/>
          </a:p>
        </p:txBody>
      </p:sp>
      <p:sp>
        <p:nvSpPr>
          <p:cNvPr id="619" name="Google Shape;619;p42"/>
          <p:cNvSpPr/>
          <p:nvPr/>
        </p:nvSpPr>
        <p:spPr>
          <a:xfrm>
            <a:off x="8339328" y="1819656"/>
            <a:ext cx="146304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B88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2"/>
          <p:cNvSpPr/>
          <p:nvPr/>
        </p:nvSpPr>
        <p:spPr>
          <a:xfrm>
            <a:off x="8476488" y="1517904"/>
            <a:ext cx="1371600" cy="868680"/>
          </a:xfrm>
          <a:prstGeom prst="roundRect">
            <a:avLst>
              <a:gd fmla="val 14000" name="adj"/>
            </a:avLst>
          </a:prstGeom>
          <a:solidFill>
            <a:srgbClr val="4949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  <a:defRPr/>
            </a:pPr>
            <a:r>
              <a:rPr b="1" i="0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/>
            </a:pPr>
            <a:r>
              <a:rPr b="0" i="0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trust in delivery</a:t>
            </a:r>
            <a:endParaRPr/>
          </a:p>
        </p:txBody>
      </p:sp>
      <p:sp>
        <p:nvSpPr>
          <p:cNvPr id="621" name="Google Shape;621;p42"/>
          <p:cNvSpPr/>
          <p:nvPr/>
        </p:nvSpPr>
        <p:spPr>
          <a:xfrm>
            <a:off x="9866376" y="1819656"/>
            <a:ext cx="146304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B88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2"/>
          <p:cNvSpPr/>
          <p:nvPr/>
        </p:nvSpPr>
        <p:spPr>
          <a:xfrm>
            <a:off x="10003536" y="1517904"/>
            <a:ext cx="1371600" cy="868680"/>
          </a:xfrm>
          <a:prstGeom prst="roundRect">
            <a:avLst>
              <a:gd fmla="val 14000" name="adj"/>
            </a:avLst>
          </a:prstGeom>
          <a:solidFill>
            <a:srgbClr val="4949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  <a:defRPr/>
            </a:pPr>
            <a:r>
              <a:rPr b="1" i="0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 A2A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/>
            </a:pPr>
            <a:r>
              <a:rPr b="0" i="0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trust in coordination</a:t>
            </a:r>
            <a:endParaRPr/>
          </a:p>
        </p:txBody>
      </p:sp>
      <p:sp>
        <p:nvSpPr>
          <p:cNvPr id="623" name="Google Shape;623;p42"/>
          <p:cNvSpPr txBox="1"/>
          <p:nvPr/>
        </p:nvSpPr>
        <p:spPr>
          <a:xfrm>
            <a:off x="841248" y="2834640"/>
            <a:ext cx="106070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1168" lvl="0" marL="23774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6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Open Q&amp;A</a:t>
            </a:r>
            <a:endParaRPr/>
          </a:p>
          <a:p>
            <a:pPr indent="-201168" lvl="0" marL="237744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6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Stretch topics for advanced learners:</a:t>
            </a:r>
            <a:endParaRPr/>
          </a:p>
          <a:p>
            <a:pPr indent="-201168" lvl="0" marL="51206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A combined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health + capability registry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so orchestrator routing uses one signal instead of two (foreshadowed in 7.3)</a:t>
            </a:r>
            <a:endParaRPr/>
          </a:p>
          <a:p>
            <a:pPr indent="-201168" lvl="0" marL="51206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Streaming voice with barge-in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as a follow-up deep dive</a:t>
            </a:r>
            <a:endParaRPr/>
          </a:p>
          <a:p>
            <a:pPr indent="-201168" lvl="0" marL="51206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Benchmarking the custom A2A protocol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against a standard synchronous A2A implementation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3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Materials Checklist</a:t>
            </a:r>
            <a:endParaRPr/>
          </a:p>
        </p:txBody>
      </p:sp>
      <p:sp>
        <p:nvSpPr>
          <p:cNvPr id="629" name="Google Shape;629;p43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Redis instance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(local or shared) — orchestration, heartbeat and A2A stream labs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NanoClaw device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or Pi-class emulation environment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Hermes model weights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quantized build suitable for the edge demo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Starter OpenClaw agent scaffold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with Redis Streams + MCP pre-wired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3–4 deliberately weak skill descriptions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for the critique exercise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Telegram and/or WhatsApp sandbox / test account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with webhook access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Basic ASR / TTS setup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(cloud API or local model) for the voice demo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Reference: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OWASP Agentic Applications Cheat Sheet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Reference: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overview of at least one standard A2A protocol spec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(for the Part 7.1 comparison)</a:t>
            </a:r>
            <a:endParaRPr/>
          </a:p>
        </p:txBody>
      </p:sp>
      <p:sp>
        <p:nvSpPr>
          <p:cNvPr id="630" name="Google Shape;630;p4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endParaRPr/>
          </a:p>
        </p:txBody>
      </p:sp>
      <p:sp>
        <p:nvSpPr>
          <p:cNvPr id="631" name="Google Shape;631;p43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632" name="Google Shape;632;p4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4"/>
          <p:cNvSpPr txBox="1"/>
          <p:nvPr>
            <p:ph type="title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/>
            </a:pPr>
            <a:r>
              <a:rPr b="1" i="0"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Technical Appendix</a:t>
            </a:r>
            <a:endParaRPr/>
          </a:p>
        </p:txBody>
      </p:sp>
      <p:sp>
        <p:nvSpPr>
          <p:cNvPr id="638" name="Google Shape;638;p44"/>
          <p:cNvSpPr txBox="1"/>
          <p:nvPr>
            <p:ph idx="1" type="body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700"/>
              <a:buNone/>
              <a:defRPr/>
            </a:pPr>
            <a:r>
              <a:rPr b="0" i="0" lang="en-US" sz="1800">
                <a:solidFill>
                  <a:srgbClr val="E8EEF5"/>
                </a:solidFill>
                <a:latin typeface="Arial"/>
                <a:ea typeface="Arial"/>
                <a:cs typeface="Arial"/>
                <a:sym typeface="Arial"/>
              </a:rPr>
              <a:t>Configuring A2A + Hermes with LangGraph — implementation-level detail for learners who want to build past the guided demo.</a:t>
            </a:r>
            <a:endParaRPr/>
          </a:p>
        </p:txBody>
      </p:sp>
      <p:sp>
        <p:nvSpPr>
          <p:cNvPr id="639" name="Google Shape;639;p44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defRPr/>
            </a:pPr>
            <a:r>
              <a:rPr b="1" i="0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SECTION  ·  INSTRUCTOR REFERENCE / HANDOUT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5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A.1  Why LangGraph Fits Here</a:t>
            </a:r>
            <a:endParaRPr/>
          </a:p>
        </p:txBody>
      </p:sp>
      <p:sp>
        <p:nvSpPr>
          <p:cNvPr id="645" name="Google Shape;645;p45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Each OpenClaw agent's internal reasoning loop —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receive task → call Hermes → optionally invoke a skill / tool → respond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maps naturally onto a LangGraph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StateGraph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Nodes: “call model”, “invoke skill”, “await tool result”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Edges: conditional routing based on whether Hermes emitted a tool call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60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LangGraph's built-in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checkpointer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lines up with the Part 7.2 task lifecycle (proposed → accepted → in-progress → completed / failed)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A checkpoint after each node execution gives the same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replayability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benefit as reading task state back from the Redis Stream</a:t>
            </a:r>
            <a:endParaRPr/>
          </a:p>
        </p:txBody>
      </p:sp>
      <p:sp>
        <p:nvSpPr>
          <p:cNvPr id="646" name="Google Shape;646;p45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APPENDIX · LANGGRAPH</a:t>
            </a:r>
            <a:endParaRPr/>
          </a:p>
        </p:txBody>
      </p:sp>
      <p:sp>
        <p:nvSpPr>
          <p:cNvPr id="647" name="Google Shape;647;p45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648" name="Google Shape;648;p4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6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A.2  Wiring Hermes into a LangGraph Node</a:t>
            </a:r>
            <a:endParaRPr/>
          </a:p>
        </p:txBody>
      </p:sp>
      <p:sp>
        <p:nvSpPr>
          <p:cNvPr id="654" name="Google Shape;654;p46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Hermes isn't a first-party LangChain / LangGraph integration → serve it behind an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OpenAI-compatible endpoint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(vLLM, or Ollama / TGI exposing `/v1/chat/completions`)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Bind it via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ChatOpenAI-style config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pointed at that local endpoint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Confirm Hermes' tool-calling output matches what LangGraph expects (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OpenAI-style `tool_calls`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) — this is the thing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most likely to need a translation shim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Bind Part 5 skills to the graph as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LangGraph tools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the tool's `description` field is exactly the skill description from 5.2;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the same discoverability rules apply</a:t>
            </a:r>
            <a:endParaRPr/>
          </a:p>
        </p:txBody>
      </p:sp>
      <p:sp>
        <p:nvSpPr>
          <p:cNvPr id="655" name="Google Shape;655;p46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APPENDIX · LANGGRAPH</a:t>
            </a:r>
            <a:endParaRPr/>
          </a:p>
        </p:txBody>
      </p:sp>
      <p:sp>
        <p:nvSpPr>
          <p:cNvPr id="656" name="Google Shape;656;p46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657" name="Google Shape;657;p46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7"/>
          <p:cNvSpPr txBox="1"/>
          <p:nvPr>
            <p:ph type="ctrTitle"/>
          </p:nvPr>
        </p:nvSpPr>
        <p:spPr>
          <a:xfrm>
            <a:off x="841248" y="548640"/>
            <a:ext cx="10607040" cy="8923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A.3  Connecting the Graph to the Redis Streams Transport</a:t>
            </a:r>
            <a:endParaRPr/>
          </a:p>
        </p:txBody>
      </p:sp>
      <p:sp>
        <p:nvSpPr>
          <p:cNvPr id="663" name="Google Shape;663;p47"/>
          <p:cNvSpPr txBox="1"/>
          <p:nvPr>
            <p:ph idx="1" type="body"/>
          </p:nvPr>
        </p:nvSpPr>
        <p:spPr>
          <a:xfrm>
            <a:off x="841248" y="1541570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The graph handles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a single agent's internal turn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; the Part 7.2 envelope (sender, recipient, task ID, payload, correlation ID) becomes the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input state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that triggers a graph invocation, and the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output state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serialized back onto the outbound stream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Pattern: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a thin consumer loop reads new entries from the agent's inbox stream → maps each to a LangGraph input state → invokes the graph → writes the result back as a new stream entry (status update or final response)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The graph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doesn't need to know about Redis at all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the two concerns stay cleanly separated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45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Use the checkpointer with a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Redis-backed implementation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so an in-progress task's graph state survives an agent restart — the 7.3 “recovering agent resumes from stream offset” behaviour now also resumes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mid-graph-execution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, not just mid-task</a:t>
            </a:r>
            <a:endParaRPr/>
          </a:p>
        </p:txBody>
      </p:sp>
      <p:sp>
        <p:nvSpPr>
          <p:cNvPr id="664" name="Google Shape;664;p47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APPENDIX · LANGGRAPH</a:t>
            </a:r>
            <a:endParaRPr/>
          </a:p>
        </p:txBody>
      </p:sp>
      <p:sp>
        <p:nvSpPr>
          <p:cNvPr id="665" name="Google Shape;665;p47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666" name="Google Shape;666;p47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8"/>
          <p:cNvSpPr txBox="1"/>
          <p:nvPr>
            <p:ph type="ctrTitle"/>
          </p:nvPr>
        </p:nvSpPr>
        <p:spPr>
          <a:xfrm>
            <a:off x="841248" y="548640"/>
            <a:ext cx="10607040" cy="8923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A.4  Heartbeats &amp; Capability Advertisement from Inside the Graph</a:t>
            </a:r>
            <a:endParaRPr/>
          </a:p>
        </p:txBody>
      </p:sp>
      <p:sp>
        <p:nvSpPr>
          <p:cNvPr id="672" name="Google Shape;672;p48"/>
          <p:cNvSpPr txBox="1"/>
          <p:nvPr>
            <p:ph idx="1" type="body"/>
          </p:nvPr>
        </p:nvSpPr>
        <p:spPr>
          <a:xfrm>
            <a:off x="841248" y="1541570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The graph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doesn't own the heartbeat loop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— keep heartbeat emission (Part 4) as a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separate lightweight process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alongside the graph consumer, not a graph node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It must keep beating even while the graph is mid-execution on a long task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600"/>
              </a:spcBef>
              <a:spcAft>
                <a:spcPts val="0"/>
              </a:spcAft>
              <a:buClr>
                <a:srgbClr val="F99D1F"/>
              </a:buClr>
              <a:buSzPts val="1500"/>
              <a:buFont typeface="Arial"/>
              <a:buChar char="▪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The heartbeat process can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introspect the graph's currently-bound tools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to build the capability-advertisement payload from 7.3</a:t>
            </a:r>
            <a:endParaRPr/>
          </a:p>
          <a:p>
            <a:pPr indent="-201168" lvl="0" marL="51206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7B8898"/>
              </a:buClr>
              <a:buSzPts val="1600"/>
              <a:buFont typeface="Arial"/>
              <a:buChar char="–"/>
              <a:defRPr/>
            </a:pP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Skill registration stays a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single source of truth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(the graph's tool list) rather than a separately maintained config</a:t>
            </a:r>
            <a:endParaRPr/>
          </a:p>
        </p:txBody>
      </p:sp>
      <p:sp>
        <p:nvSpPr>
          <p:cNvPr id="673" name="Google Shape;673;p48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APPENDIX · LANGGRAPH</a:t>
            </a:r>
            <a:endParaRPr/>
          </a:p>
        </p:txBody>
      </p:sp>
      <p:sp>
        <p:nvSpPr>
          <p:cNvPr id="674" name="Google Shape;674;p48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675" name="Google Shape;675;p48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9"/>
          <p:cNvSpPr txBox="1"/>
          <p:nvPr>
            <p:ph type="ctrTitle"/>
          </p:nvPr>
        </p:nvSpPr>
        <p:spPr>
          <a:xfrm>
            <a:off x="841248" y="502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3000"/>
              <a:buFont typeface="Arial"/>
              <a:buNone/>
              <a:defRPr/>
            </a:pPr>
            <a:r>
              <a:rPr b="1" i="0" lang="en-US" sz="3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A.5  Suggested Demo / Lab Extension</a:t>
            </a:r>
            <a:endParaRPr/>
          </a:p>
        </p:txBody>
      </p:sp>
      <p:sp>
        <p:nvSpPr>
          <p:cNvPr id="681" name="Google Shape;681;p49"/>
          <p:cNvSpPr txBox="1"/>
          <p:nvPr>
            <p:ph idx="1" type="body"/>
          </p:nvPr>
        </p:nvSpPr>
        <p:spPr>
          <a:xfrm>
            <a:off x="841248" y="1481328"/>
            <a:ext cx="1060704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1168" lvl="0" marL="237744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Stand up Hermes behind an OpenAI-compatible local endpoint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Build a two-node LangGraph (model call → conditional tool invocation) using one Part 5 skill as a bound tool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Wrap it with the thin Redis Streams consumer / producer loop from A.3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Re-run the Part 7.4 kill-and-resume test — confirm the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LangGraph checkpoint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(not just the task ID) is what allows correct resumption</a:t>
            </a:r>
            <a:endParaRPr/>
          </a:p>
          <a:p>
            <a:pPr indent="-201168" lvl="0" marL="237744" rtl="0" algn="l">
              <a:lnSpc>
                <a:spcPct val="104000"/>
              </a:lnSpc>
              <a:spcBef>
                <a:spcPts val="1800"/>
              </a:spcBef>
              <a:spcAft>
                <a:spcPts val="0"/>
              </a:spcAft>
              <a:buClr>
                <a:srgbClr val="F99D1F"/>
              </a:buClr>
              <a:buSzPts val="1550"/>
              <a:buFont typeface="Arial"/>
              <a:buChar char="▪"/>
              <a:defRPr/>
            </a:pP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Compare latency / complexity against the </a:t>
            </a:r>
            <a:r>
              <a:rPr b="1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framework-free</a:t>
            </a:r>
            <a:r>
              <a:rPr b="0" i="0" lang="en-US" sz="1800">
                <a:solidFill>
                  <a:srgbClr val="2B343F"/>
                </a:solidFill>
                <a:latin typeface="Arial"/>
                <a:ea typeface="Arial"/>
                <a:cs typeface="Arial"/>
                <a:sym typeface="Arial"/>
              </a:rPr>
              <a:t> agent loop built in the main Part 7 lab</a:t>
            </a:r>
            <a:endParaRPr/>
          </a:p>
        </p:txBody>
      </p:sp>
      <p:sp>
        <p:nvSpPr>
          <p:cNvPr id="682" name="Google Shape;682;p49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D1F"/>
              </a:buClr>
              <a:buSzPts val="1200"/>
              <a:buFont typeface="Arial"/>
              <a:buNone/>
              <a:defRPr/>
            </a:pPr>
            <a:r>
              <a:rPr b="1" i="0" lang="en-US" sz="1200">
                <a:solidFill>
                  <a:srgbClr val="F99D1F"/>
                </a:solidFill>
                <a:latin typeface="Arial"/>
                <a:ea typeface="Arial"/>
                <a:cs typeface="Arial"/>
                <a:sym typeface="Arial"/>
              </a:rPr>
              <a:t>APPENDIX · LANGGRAPH</a:t>
            </a:r>
            <a:endParaRPr/>
          </a:p>
        </p:txBody>
      </p:sp>
      <p:sp>
        <p:nvSpPr>
          <p:cNvPr id="683" name="Google Shape;683;p49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Building Autonomous AI Agents  |  OpenClaw · Hermes · NanoClaw</a:t>
            </a:r>
            <a:endParaRPr/>
          </a:p>
        </p:txBody>
      </p:sp>
      <p:sp>
        <p:nvSpPr>
          <p:cNvPr id="684" name="Google Shape;684;p49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900"/>
              <a:buFont typeface="Arial"/>
              <a:buNone/>
              <a:defRPr/>
            </a:pPr>
            <a:r>
              <a:rPr b="0" i="0" lang="en-US" sz="9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0"/>
          <p:cNvSpPr txBox="1"/>
          <p:nvPr/>
        </p:nvSpPr>
        <p:spPr>
          <a:xfrm>
            <a:off x="1371600" y="1965960"/>
            <a:ext cx="94457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282"/>
              </a:buClr>
              <a:buSzPts val="4000"/>
              <a:buFont typeface="Arial"/>
              <a:buNone/>
              <a:defRPr/>
            </a:pPr>
            <a:r>
              <a:rPr b="1" i="0" lang="en-US" sz="4000">
                <a:solidFill>
                  <a:srgbClr val="004282"/>
                </a:solidFill>
                <a:latin typeface="Arial"/>
                <a:ea typeface="Arial"/>
                <a:cs typeface="Arial"/>
                <a:sym typeface="Arial"/>
              </a:rPr>
              <a:t>Thank You — Questions?</a:t>
            </a:r>
            <a:endParaRPr/>
          </a:p>
        </p:txBody>
      </p:sp>
      <p:sp>
        <p:nvSpPr>
          <p:cNvPr id="690" name="Google Shape;690;p50"/>
          <p:cNvSpPr txBox="1"/>
          <p:nvPr/>
        </p:nvSpPr>
        <p:spPr>
          <a:xfrm>
            <a:off x="1371600" y="4114800"/>
            <a:ext cx="944575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8898"/>
              </a:buClr>
              <a:buSzPts val="1400"/>
              <a:buFont typeface="Arial"/>
              <a:buNone/>
              <a:defRPr/>
            </a:pPr>
            <a:r>
              <a:rPr b="0" i="0" lang="en-US" sz="1800">
                <a:solidFill>
                  <a:srgbClr val="7B8898"/>
                </a:solidFill>
                <a:latin typeface="Arial"/>
                <a:ea typeface="Arial"/>
                <a:cs typeface="Arial"/>
                <a:sym typeface="Arial"/>
              </a:rPr>
              <a:t>Take-home extensions: the four independent labs (heartbeat producer/consumer, skill critique-and-rewrite, channel wiring, A2A message envelope) + a follow-up review session.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 Template for Self Recording (SR)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2021-07-07T06:44:21Z</dcterms:created>
  <dc:creator>Hock Heng Ong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0x0101009A531C64432B4E45B10654D7BF3B6637</vt:lpwstr>
  </property>
  <property fmtid="{D5CDD505-2E9C-101B-9397-08002B2CF9AE}" pid="3" name="MediaServiceImageTags">
    <vt:lpwstr/>
  </property>
</Properties>
</file>