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3810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5B52E"/>
                </a:solidFill>
                <a:latin typeface="Calibri"/>
              </a:rPr>
              <a:t>ONE-DAY INTENSIVE  ·  ~7.5–8 HOURS  ·  NUS-ISS FORMAT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Building Autonomous AI Agents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r>
              <a:rPr sz="3000" b="1" i="0">
                <a:solidFill>
                  <a:srgbClr val="F2622E"/>
                </a:solidFill>
                <a:latin typeface="Calibri"/>
              </a:rPr>
              <a:t>OpenClaw, Hermes &amp; NanoClaw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Calibri"/>
              </a:rPr>
              <a:t>Orchestration · Models · Edge · Heartbeats · Skills · Channels · A2A</a:t>
            </a:r>
          </a:p>
          <a:p>
            <a:pPr algn="l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</a:pPr>
            <a:r>
              <a:rPr sz="1300" b="0" i="0">
                <a:solidFill>
                  <a:srgbClr val="8EA2BA"/>
                </a:solidFill>
                <a:latin typeface="Calibri"/>
              </a:rPr>
              <a:t>Audience: working professionals / graduate learners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COURSE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Where Today Fits: The Three-Day Progression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3383280" cy="868680"/>
          </a:xfrm>
          <a:prstGeom prst="roundRect">
            <a:avLst>
              <a:gd name="adj" fmla="val 14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Build an Agent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E8EEF5"/>
                </a:solidFill>
                <a:latin typeface="Calibri"/>
              </a:rPr>
              <a:t>DAY 1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59352" y="1828800"/>
            <a:ext cx="502920" cy="329184"/>
          </a:xfrm>
          <a:prstGeom prst="rightArrow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62272" y="1554480"/>
            <a:ext cx="3383280" cy="868680"/>
          </a:xfrm>
          <a:prstGeom prst="roundRect">
            <a:avLst>
              <a:gd name="adj" fmla="val 14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Build an Agent Team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E8EEF5"/>
                </a:solidFill>
                <a:latin typeface="Calibri"/>
              </a:rPr>
              <a:t>DAY 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18704" y="1828800"/>
            <a:ext cx="502920" cy="329184"/>
          </a:xfrm>
          <a:prstGeom prst="rightArrow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21624" y="1554480"/>
            <a:ext cx="3383280" cy="868680"/>
          </a:xfrm>
          <a:prstGeom prst="roundRect">
            <a:avLst>
              <a:gd name="adj" fmla="val 14000"/>
            </a:avLst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Build an Agent Ecosystem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E8EEF5"/>
                </a:solidFill>
                <a:latin typeface="Calibri"/>
              </a:rPr>
              <a:t>DAY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43200"/>
            <a:ext cx="112014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50" b="1" i="0">
                <a:solidFill>
                  <a:srgbClr val="212B36"/>
                </a:solidFill>
                <a:latin typeface="Calibri"/>
              </a:rPr>
              <a:t>Day 3 (today):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build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MyShopper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, a personal buying agent owned by the customer — it represents the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customer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, not AgentMart.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520440"/>
            <a:ext cx="2651760" cy="566928"/>
          </a:xfrm>
          <a:prstGeom prst="roundRect">
            <a:avLst>
              <a:gd name="adj" fmla="val 14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630168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12B36"/>
                </a:solidFill>
                <a:latin typeface="Calibri"/>
              </a:rPr>
              <a:t>Telegram / WhatsApp / WebChat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194560" y="4096512"/>
            <a:ext cx="365760" cy="274320"/>
          </a:xfrm>
          <a:prstGeom prst="downArrow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" y="4434840"/>
            <a:ext cx="2651760" cy="566928"/>
          </a:xfrm>
          <a:prstGeom prst="roundRect">
            <a:avLst>
              <a:gd name="adj" fmla="val 14000"/>
            </a:avLst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MyShopper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544568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12B36"/>
                </a:solidFill>
                <a:latin typeface="Calibri"/>
              </a:rPr>
              <a:t>Personal buying agent — talks to AgentMart over A2A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2194560" y="5010912"/>
            <a:ext cx="365760" cy="274320"/>
          </a:xfrm>
          <a:prstGeom prst="downArrow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5349240"/>
            <a:ext cx="2651760" cy="566928"/>
          </a:xfrm>
          <a:prstGeom prst="roundRect">
            <a:avLst>
              <a:gd name="adj" fmla="val 14000"/>
            </a:avLst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AgentMart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458968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>
                <a:solidFill>
                  <a:srgbClr val="212B36"/>
                </a:solidFill>
                <a:latin typeface="Calibri"/>
              </a:rPr>
              <a:t>Shopping · Pricing · Inventory · Fulfilment · Order agents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1000"/>
              </a:spcAft>
            </a:pPr>
            <a:r>
              <a:rPr sz="1600" b="1" i="0">
                <a:solidFill>
                  <a:srgbClr val="10243E"/>
                </a:solidFill>
                <a:latin typeface="Calibri"/>
              </a:rPr>
              <a:t>By the end of today, you will be able to: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Explain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how OpenClaw (orchestration), Hermes (model layer) and NanoClaw (edge deployment) fit together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Design a heartbeat / liveness mechanism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for agents — including edge agents on unreliable networks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Write agent skills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whose descriptions reliably trigger correct invocation, with basic security hardening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Wire an agent to real-world channels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— messaging (Telegram / WhatsApp) and voice — and handle their distinct failure modes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Design a custom agent-to-agent (A2A) protocol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on Redis Streams + MCP, distinct from off-the-shelf A2A implementations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Build an end-to-end flow: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user messages/speaks → orchestrator dispatches to a healthy edge agent over custom A2A → skill invocation → reply over the same channel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The Stack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00200"/>
            <a:ext cx="3383280" cy="1051560"/>
          </a:xfrm>
          <a:prstGeom prst="roundRect">
            <a:avLst>
              <a:gd name="adj" fmla="val 14000"/>
            </a:avLst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OpenClaw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8EEF5"/>
                </a:solidFill>
                <a:latin typeface="Calibri"/>
              </a:rPr>
              <a:t>Orchestration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2491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5B6672"/>
                </a:solidFill>
                <a:latin typeface="Calibri"/>
              </a:rPr>
              <a:t>Redis Streams + MCP multi-agent backbone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59352" y="1938528"/>
            <a:ext cx="502920" cy="365760"/>
          </a:xfrm>
          <a:prstGeom prst="rightArrow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62272" y="1600200"/>
            <a:ext cx="3383280" cy="1051560"/>
          </a:xfrm>
          <a:prstGeom prst="roundRect">
            <a:avLst>
              <a:gd name="adj" fmla="val 14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Hermes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8EEF5"/>
                </a:solidFill>
                <a:latin typeface="Calibri"/>
              </a:rPr>
              <a:t>Model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72491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5B6672"/>
                </a:solidFill>
                <a:latin typeface="Calibri"/>
              </a:rPr>
              <a:t>Open-weight function-calling model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18704" y="1938528"/>
            <a:ext cx="502920" cy="365760"/>
          </a:xfrm>
          <a:prstGeom prst="rightArrow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21624" y="1600200"/>
            <a:ext cx="3383280" cy="1051560"/>
          </a:xfrm>
          <a:prstGeom prst="roundRect">
            <a:avLst>
              <a:gd name="adj" fmla="val 14000"/>
            </a:avLst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NanoClaw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50" b="0" i="0">
                <a:solidFill>
                  <a:srgbClr val="E8EEF5"/>
                </a:solidFill>
                <a:latin typeface="Calibri"/>
              </a:rPr>
              <a:t>Edge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3064" y="2724912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5B6672"/>
                </a:solidFill>
                <a:latin typeface="Calibri"/>
              </a:rPr>
              <a:t>Pi-class on-device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520440"/>
            <a:ext cx="11201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10243E"/>
                </a:solidFill>
                <a:latin typeface="Calibri"/>
              </a:rPr>
              <a:t>Four cross-cutting concerns make the stack trustworthy in production: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23360"/>
            <a:ext cx="2606040" cy="86868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0243E"/>
                </a:solidFill>
                <a:latin typeface="Calibri"/>
              </a:rPr>
              <a:t>Heartbeats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B6672"/>
                </a:solidFill>
                <a:latin typeface="Calibri"/>
              </a:rPr>
              <a:t>trust in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4023360"/>
            <a:ext cx="2606040" cy="86868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0243E"/>
                </a:solidFill>
                <a:latin typeface="Calibri"/>
              </a:rPr>
              <a:t>Skill writing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B6672"/>
                </a:solidFill>
                <a:latin typeface="Calibri"/>
              </a:rPr>
              <a:t>trust in capability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023360"/>
            <a:ext cx="2606040" cy="86868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0243E"/>
                </a:solidFill>
                <a:latin typeface="Calibri"/>
              </a:rPr>
              <a:t>Channels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B6672"/>
                </a:solidFill>
                <a:latin typeface="Calibri"/>
              </a:rPr>
              <a:t>trust in delivery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4023360"/>
            <a:ext cx="2606040" cy="868680"/>
          </a:xfrm>
          <a:prstGeom prst="roundRect">
            <a:avLst>
              <a:gd name="adj" fmla="val 14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0243E"/>
                </a:solidFill>
                <a:latin typeface="Calibri"/>
              </a:rPr>
              <a:t>Custom A2A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B6672"/>
                </a:solidFill>
                <a:latin typeface="Calibri"/>
              </a:rPr>
              <a:t>trust in coordination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57800"/>
            <a:ext cx="11201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0" i="1">
                <a:solidFill>
                  <a:srgbClr val="5B6672"/>
                </a:solidFill>
                <a:latin typeface="Calibri"/>
              </a:rPr>
              <a:t>By the end of the day you will build a small end-to-end system touching every one of these pieces.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SESSION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Full-Day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417320"/>
          <a:ext cx="112014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281160"/>
              </a:tblGrid>
              <a:tr h="339634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>
                    <a:solidFill>
                      <a:srgbClr val="10243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12B36"/>
                          </a:solidFill>
                          <a:latin typeface="Calibri"/>
                        </a:rPr>
                        <a:t>0:00 – 0:15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12B36"/>
                          </a:solidFill>
                          <a:latin typeface="Calibri"/>
                        </a:rPr>
                        <a:t>Opening &amp; framing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12B36"/>
                          </a:solidFill>
                          <a:latin typeface="Calibri"/>
                        </a:rPr>
                        <a:t>0:15 – 1:00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12B36"/>
                          </a:solidFill>
                          <a:latin typeface="Calibri"/>
                        </a:rPr>
                        <a:t>Part 1: OpenClaw — the orchestration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12B36"/>
                          </a:solidFill>
                          <a:latin typeface="Calibri"/>
                        </a:rPr>
                        <a:t>1:00 – 1:45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12B36"/>
                          </a:solidFill>
                          <a:latin typeface="Calibri"/>
                        </a:rPr>
                        <a:t>Part 2: Hermes — the model layer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12B36"/>
                          </a:solidFill>
                          <a:latin typeface="Calibri"/>
                        </a:rPr>
                        <a:t>1:45 – 1:55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12B36"/>
                          </a:solidFill>
                          <a:latin typeface="Calibri"/>
                        </a:rPr>
                        <a:t>Break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12B36"/>
                          </a:solidFill>
                          <a:latin typeface="Calibri"/>
                        </a:rPr>
                        <a:t>1:55 – 2:40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12B36"/>
                          </a:solidFill>
                          <a:latin typeface="Calibri"/>
                        </a:rPr>
                        <a:t>Part 3: NanoClaw — the edge layer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12B36"/>
                          </a:solidFill>
                          <a:latin typeface="Calibri"/>
                        </a:rPr>
                        <a:t>2:40 – 3:40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12B36"/>
                          </a:solidFill>
                          <a:latin typeface="Calibri"/>
                        </a:rPr>
                        <a:t>Part 4: Heartbeat mechanisms (deep dive)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12B36"/>
                          </a:solidFill>
                          <a:latin typeface="Calibri"/>
                        </a:rPr>
                        <a:t>3:40 – 3:50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12B36"/>
                          </a:solidFill>
                          <a:latin typeface="Calibri"/>
                        </a:rPr>
                        <a:t>Break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12B36"/>
                          </a:solidFill>
                          <a:latin typeface="Calibri"/>
                        </a:rPr>
                        <a:t>3:50 – 4:50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12B36"/>
                          </a:solidFill>
                          <a:latin typeface="Calibri"/>
                        </a:rPr>
                        <a:t>Part 5: Skill writing (deep dive)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12B36"/>
                          </a:solidFill>
                          <a:latin typeface="Calibri"/>
                        </a:rPr>
                        <a:t>4:50 – 5:00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12B36"/>
                          </a:solidFill>
                          <a:latin typeface="Calibri"/>
                        </a:rPr>
                        <a:t>Break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12B36"/>
                          </a:solidFill>
                          <a:latin typeface="Calibri"/>
                        </a:rPr>
                        <a:t>5:00 – 6:00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12B36"/>
                          </a:solidFill>
                          <a:latin typeface="Calibri"/>
                        </a:rPr>
                        <a:t>Part 6: Channel integration — messaging &amp; voice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12B36"/>
                          </a:solidFill>
                          <a:latin typeface="Calibri"/>
                        </a:rPr>
                        <a:t>6:00 – 7:00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12B36"/>
                          </a:solidFill>
                          <a:latin typeface="Calibri"/>
                        </a:rPr>
                        <a:t>Part 7: A2A setup — a one-of-its-kind protocol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12B36"/>
                          </a:solidFill>
                          <a:latin typeface="Calibri"/>
                        </a:rPr>
                        <a:t>7:00 – 7:20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12B36"/>
                          </a:solidFill>
                          <a:latin typeface="Calibri"/>
                        </a:rPr>
                        <a:t>Combined lab: end-to-end channel-to-skill flow over custom A2A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8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12B36"/>
                          </a:solidFill>
                          <a:latin typeface="Calibri"/>
                        </a:rPr>
                        <a:t>7:20 – 7:30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12B36"/>
                          </a:solidFill>
                          <a:latin typeface="Calibri"/>
                        </a:rPr>
                        <a:t>Wrap-up &amp; Q&amp;A</a:t>
                      </a:r>
                    </a:p>
                  </a:txBody>
                  <a:tcPr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263640"/>
            <a:ext cx="11201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1">
                <a:solidFill>
                  <a:srgbClr val="5B6672"/>
                </a:solidFill>
                <a:latin typeface="Calibri"/>
              </a:rPr>
              <a:t>Can also split into three sessions: A = Parts 1–3 · B = Parts 4–5 + lab · C = Parts 6–7 + final lab.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5B52E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OpenClaw — the Orchestration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C9D6E4"/>
                </a:solidFill>
                <a:latin typeface="Calibri"/>
              </a:rPr>
              <a:t>Multi-agent architecture on Redis Streams + MCP, and where the ecosystem plug-ins attach.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B52E"/>
                </a:solidFill>
                <a:latin typeface="Calibri"/>
              </a:rPr>
              <a:t>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1 · OPENCLAW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OpenClaw: Multi-Agent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700" b="1">
                <a:solidFill>
                  <a:srgbClr val="F2622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12B36"/>
                </a:solidFill>
                <a:latin typeface="Calibri"/>
              </a:rPr>
              <a:t>Redis Streams + MCP</a:t>
            </a:r>
            <a:r>
              <a:rPr sz="1700" b="0" i="0">
                <a:solidFill>
                  <a:srgbClr val="212B36"/>
                </a:solidFill>
                <a:latin typeface="Calibri"/>
              </a:rPr>
              <a:t> are the backbone for agent-to-agent communication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Redis Streams give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durable, replayable, multi-consumer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messaging between agents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MCP standardises how agents expose and call tools</a:t>
            </a:r>
          </a:p>
          <a:p>
            <a:pPr algn="l">
              <a:lnSpc>
                <a:spcPct val="104000"/>
              </a:lnSpc>
              <a:spcBef>
                <a:spcPts val="1000"/>
              </a:spcBef>
              <a:spcAft>
                <a:spcPts val="800"/>
              </a:spcAft>
            </a:pPr>
            <a:r>
              <a:rPr sz="1700" b="1">
                <a:solidFill>
                  <a:srgbClr val="F2622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12B36"/>
                </a:solidFill>
                <a:latin typeface="Calibri"/>
              </a:rPr>
              <a:t>Live demo:</a:t>
            </a:r>
            <a:r>
              <a:rPr sz="1700" b="0" i="0">
                <a:solidFill>
                  <a:srgbClr val="212B36"/>
                </a:solidFill>
                <a:latin typeface="Calibri"/>
              </a:rPr>
              <a:t> spin up two agents talking to each other via Redis Streams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Watch: a message published by Agent A appears in Agent B's inbox stream and is consumed independently</a:t>
            </a:r>
          </a:p>
          <a:p>
            <a:pPr algn="l">
              <a:lnSpc>
                <a:spcPct val="104000"/>
              </a:lnSpc>
              <a:spcBef>
                <a:spcPts val="1000"/>
              </a:spcBef>
              <a:spcAft>
                <a:spcPts val="800"/>
              </a:spcAft>
            </a:pPr>
            <a:r>
              <a:rPr sz="1700" b="1">
                <a:solidFill>
                  <a:srgbClr val="F2622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12B36"/>
                </a:solidFill>
                <a:latin typeface="Calibri"/>
              </a:rPr>
              <a:t>Ecosystem plug-ins at this layer: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ClawHub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— the skill marketplace (where reusable skills are published &amp; discovered)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MoltGuard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— the guardrail proxy (policy &amp; safety checks in the request path)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5B52E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Hermes — the Model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C9D6E4"/>
                </a:solidFill>
                <a:latin typeface="Calibri"/>
              </a:rPr>
              <a:t>Why an open-weight function-calling model is the right brain for self-hosted and edge agents.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B52E"/>
                </a:solidFill>
                <a:latin typeface="Calibri"/>
              </a:rPr>
              <a:t>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2 · HERMES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Hermes: Open-Weight Function Calling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40680" cy="4709160"/>
          </a:xfrm>
          <a:prstGeom prst="roundRect">
            <a:avLst>
              <a:gd name="adj" fmla="val 4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81328"/>
            <a:ext cx="5440680" cy="475488"/>
          </a:xfrm>
          <a:prstGeom prst="roundRect">
            <a:avLst>
              <a:gd name="adj" fmla="val 1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56362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Why open-weight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39696"/>
            <a:ext cx="495604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Cost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— no per-token API bill at agent scale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Latency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— runs next to (or on) the agent; no network round-trip to a hosted API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No vendor lock-in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— self-hosted, portable to edge hardware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Function calling built in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— structured tool use is a first-class output, not a prompt hack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81328"/>
            <a:ext cx="5440680" cy="4709160"/>
          </a:xfrm>
          <a:prstGeom prst="roundRect">
            <a:avLst>
              <a:gd name="adj" fmla="val 4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481328"/>
            <a:ext cx="5440680" cy="475488"/>
          </a:xfrm>
          <a:prstGeom prst="roundRect">
            <a:avLst>
              <a:gd name="adj" fmla="val 16000"/>
            </a:avLst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56362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Hermes vs Claude / GPT tool calling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139696"/>
            <a:ext cx="495604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Compare Hermes'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tool-calling output format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against Claude / GPT function calling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Key check: does it emit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OpenAI-style `tool_calls`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? This decides whether agent frameworks need a translation shim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Hands-on: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get Hermes making a structured tool call through an OpenClaw 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5B52E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NanoClaw — the Edge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C9D6E4"/>
                </a:solidFill>
                <a:latin typeface="Calibri"/>
              </a:rPr>
              <a:t>Running agents on Raspberry Pi–class hardware — and what you give up versus the cloud.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B52E"/>
                </a:solidFill>
                <a:latin typeface="Calibri"/>
              </a:rPr>
              <a:t>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3 · NANOCLAW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NanoClaw: Agents at the Edge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40680" cy="4709160"/>
          </a:xfrm>
          <a:prstGeom prst="roundRect">
            <a:avLst>
              <a:gd name="adj" fmla="val 4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81328"/>
            <a:ext cx="5440680" cy="475488"/>
          </a:xfrm>
          <a:prstGeom prst="roundRect">
            <a:avLst>
              <a:gd name="adj" fmla="val 1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56362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Pi-class hardware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39696"/>
            <a:ext cx="495604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Memory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— tight RAM budgets force small models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Quantization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— Hermes runs as a quantized build to fit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Latency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— on-device inference trades speed for independence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Demo: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deploy a slimmed-down OpenClaw + Hermes agent on NanoClaw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81328"/>
            <a:ext cx="5440680" cy="4709160"/>
          </a:xfrm>
          <a:prstGeom prst="roundRect">
            <a:avLst>
              <a:gd name="adj" fmla="val 4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481328"/>
            <a:ext cx="5440680" cy="475488"/>
          </a:xfrm>
          <a:prstGeom prst="roundRect">
            <a:avLst>
              <a:gd name="adj" fmla="val 16000"/>
            </a:avLst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56362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Edge vs cloud-hosted (Bedrock / Claude)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139696"/>
            <a:ext cx="495604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Edge wins: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privacy, offline operation, no per-call cost, data stays on device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Cloud wins: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model quality, throughput, zero hardware management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This trade-off returns in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Part 6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— voice latency budgets force the cloud-vs-local choice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And in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Part 4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— edge connectivity breaks naive heartbeat assumptions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5B52E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Heartbeat Mechanisms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C9D6E4"/>
                </a:solidFill>
                <a:latin typeface="Calibri"/>
              </a:rPr>
              <a:t>Liveness, readiness and health for agents — including edge agents on unreliable networks.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B52E"/>
                </a:solidFill>
                <a:latin typeface="Calibri"/>
              </a:rPr>
              <a:t>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4 · HEARTBEATS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4.1  Three Signals That Are Often Conflated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800" b="1">
                <a:solidFill>
                  <a:srgbClr val="F2622E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212B36"/>
                </a:solidFill>
                <a:latin typeface="Calibri"/>
              </a:rPr>
              <a:t>Liveness</a:t>
            </a:r>
            <a:r>
              <a:rPr sz="1800" b="0" i="0">
                <a:solidFill>
                  <a:srgbClr val="212B36"/>
                </a:solidFill>
                <a:latin typeface="Calibri"/>
              </a:rPr>
              <a:t> — is the process running at all?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800" b="1">
                <a:solidFill>
                  <a:srgbClr val="F2622E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212B36"/>
                </a:solidFill>
                <a:latin typeface="Calibri"/>
              </a:rPr>
              <a:t>Readiness</a:t>
            </a:r>
            <a:r>
              <a:rPr sz="1800" b="0" i="0">
                <a:solidFill>
                  <a:srgbClr val="212B36"/>
                </a:solidFill>
                <a:latin typeface="Calibri"/>
              </a:rPr>
              <a:t> — can it currently accept work?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800" b="1">
                <a:solidFill>
                  <a:srgbClr val="F2622E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212B36"/>
                </a:solidFill>
                <a:latin typeface="Calibri"/>
              </a:rPr>
              <a:t>Health</a:t>
            </a:r>
            <a:r>
              <a:rPr sz="1800" b="0" i="0">
                <a:solidFill>
                  <a:srgbClr val="212B36"/>
                </a:solidFill>
                <a:latin typeface="Calibri"/>
              </a:rPr>
              <a:t> — is it running within acceptable performance / error bounds?</a:t>
            </a:r>
          </a:p>
          <a:p>
            <a:pPr algn="l">
              <a:lnSpc>
                <a:spcPct val="104000"/>
              </a:lnSpc>
              <a:spcBef>
                <a:spcPts val="1200"/>
              </a:spcBef>
              <a:spcAft>
                <a:spcPts val="800"/>
              </a:spcAft>
            </a:pPr>
            <a:r>
              <a:rPr sz="1450" b="0" i="1">
                <a:solidFill>
                  <a:srgbClr val="5B6672"/>
                </a:solidFill>
                <a:latin typeface="Calibri"/>
              </a:rPr>
              <a:t>A process can be alive but not ready, or ready but unhealthy — your detection design must say which signal it actually tracks.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4 · HEARTBEATS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4.1  Push vs Pull Heartbeats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40680" cy="4709160"/>
          </a:xfrm>
          <a:prstGeom prst="roundRect">
            <a:avLst>
              <a:gd name="adj" fmla="val 4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481328"/>
            <a:ext cx="5440680" cy="475488"/>
          </a:xfrm>
          <a:prstGeom prst="roundRect">
            <a:avLst>
              <a:gd name="adj" fmla="val 16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56362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PUSH — agent pings orchestrator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139696"/>
            <a:ext cx="495604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Agent proactively sends heartbeats on an interval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+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Lower orchestrator load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−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Agent must stay well-behaved; a hung agent that keeps beating looks alive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81328"/>
            <a:ext cx="5440680" cy="4709160"/>
          </a:xfrm>
          <a:prstGeom prst="roundRect">
            <a:avLst>
              <a:gd name="adj" fmla="val 45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481328"/>
            <a:ext cx="5440680" cy="475488"/>
          </a:xfrm>
          <a:prstGeom prst="roundRect">
            <a:avLst>
              <a:gd name="adj" fmla="val 16000"/>
            </a:avLst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56362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PULL — orchestrator polls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2139696"/>
            <a:ext cx="4956048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Orchestrator actively checks each agent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+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Simpler, more trustworthy failure detection</a:t>
            </a:r>
          </a:p>
          <a:p>
            <a:pPr algn="l">
              <a:lnSpc>
                <a:spcPct val="103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−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Scales worse as agent count grows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4 · HEARTBEATS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4.1  Interval &amp; TTL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700" b="1">
                <a:solidFill>
                  <a:srgbClr val="F2622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12B36"/>
                </a:solidFill>
                <a:latin typeface="Calibri"/>
              </a:rPr>
              <a:t>Too frequent</a:t>
            </a:r>
            <a:r>
              <a:rPr sz="1700" b="0" i="0">
                <a:solidFill>
                  <a:srgbClr val="212B36"/>
                </a:solidFill>
                <a:latin typeface="Calibri"/>
              </a:rPr>
              <a:t> → noisy streams, wasted Redis throughput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700" b="1">
                <a:solidFill>
                  <a:srgbClr val="F2622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12B36"/>
                </a:solidFill>
                <a:latin typeface="Calibri"/>
              </a:rPr>
              <a:t>Too infrequent</a:t>
            </a:r>
            <a:r>
              <a:rPr sz="1700" b="0" i="0">
                <a:solidFill>
                  <a:srgbClr val="212B36"/>
                </a:solidFill>
                <a:latin typeface="Calibri"/>
              </a:rPr>
              <a:t> → slow failure detection, stale work assignment</a:t>
            </a:r>
          </a:p>
          <a:p>
            <a:pPr algn="l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</a:pPr>
            <a:r>
              <a:rPr sz="1800" b="1">
                <a:solidFill>
                  <a:srgbClr val="F2622E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0243E"/>
                </a:solidFill>
                <a:latin typeface="Calibri"/>
              </a:rPr>
              <a:t>Rule of thumb: TTL ≈ 2–3× the heartbeat interval</a:t>
            </a:r>
            <a:r>
              <a:rPr sz="1800" b="0" i="0">
                <a:solidFill>
                  <a:srgbClr val="10243E"/>
                </a:solidFill>
                <a:latin typeface="Calibri"/>
              </a:rPr>
              <a:t>, tuned to the cost of reassigning work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Cheap reassignment → shorter TTL, faster detection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Expensive reassignment → longer TTL, tolerate transient misses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4 · HEARTBEATS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4.2  OpenClaw-Specific Mechanics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Transport: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dedicated Redis Stream per agent, or a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TTL'd key per agent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that expires if not refreshed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Detection loop (orchestrator side):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identify a dead / unreachable agent → trigger reassignment of its work</a:t>
            </a:r>
          </a:p>
          <a:p>
            <a:pPr algn="l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Flapping agents need debounce logic: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Require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N consecutive misses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before declaring an agent “down”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Single-miss detection causes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thrashing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— agents oscillate between up/down and work gets needlessly reassigned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4 · HEARTBEATS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4.3  Edge Case: NanoClaw 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Intermittent connectivity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on Pi-class hardware breaks naive heartbeat assumptions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Exponential backoff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on reconnect attempts — don't hammer the orchestrator after a dropout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Last-known-state caching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— the orchestrator doesn't prematurely kill / reassign work during a transient blip</a:t>
            </a:r>
          </a:p>
          <a:p>
            <a:pPr algn="l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The core trade-off: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Aggressive detection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→ fast reassignment, but more false positives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Lenient detection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→ fewer false positives, but slower recovery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4 ·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4.4  Hands-On Lab: Kill and Detect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1.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Write an agent process that pushes a heartbeat entry every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N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seconds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2.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Write an orchestrator loop that flags an agent “down” after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M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consecutive missed beats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3.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Kill the agent process mid-session and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measure detection time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4.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Adjust N and M, re-test — discuss the resulting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trade-off curve</a:t>
            </a:r>
          </a:p>
          <a:p>
            <a:pPr algn="l">
              <a:lnSpc>
                <a:spcPct val="104000"/>
              </a:lnSpc>
              <a:spcBef>
                <a:spcPts val="1200"/>
              </a:spcBef>
              <a:spcAft>
                <a:spcPts val="800"/>
              </a:spcAft>
            </a:pPr>
            <a:r>
              <a:rPr sz="1550" b="1" i="0">
                <a:solidFill>
                  <a:srgbClr val="0E7C7B"/>
                </a:solidFill>
                <a:latin typeface="Calibri"/>
              </a:rPr>
              <a:t>Discussion: what N / M values would you choose for a </a:t>
            </a:r>
            <a:r>
              <a:rPr sz="1550" b="1" i="0">
                <a:solidFill>
                  <a:srgbClr val="0E7C7B"/>
                </a:solidFill>
                <a:latin typeface="Calibri"/>
              </a:rPr>
              <a:t>cloud-hosted agent</a:t>
            </a:r>
            <a:r>
              <a:rPr sz="1550" b="1" i="0">
                <a:solidFill>
                  <a:srgbClr val="0E7C7B"/>
                </a:solidFill>
                <a:latin typeface="Calibri"/>
              </a:rPr>
              <a:t> vs a </a:t>
            </a:r>
            <a:r>
              <a:rPr sz="1550" b="1" i="0">
                <a:solidFill>
                  <a:srgbClr val="0E7C7B"/>
                </a:solidFill>
                <a:latin typeface="Calibri"/>
              </a:rPr>
              <a:t>NanoClaw edge agent</a:t>
            </a:r>
            <a:r>
              <a:rPr sz="1550" b="1" i="0">
                <a:solidFill>
                  <a:srgbClr val="0E7C7B"/>
                </a:solidFill>
                <a:latin typeface="Calibri"/>
              </a:rPr>
              <a:t> — and why?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5B52E"/>
                </a:solidFill>
                <a:latin typeface="Calibri"/>
              </a:rPr>
              <a:t>PART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Skill Writing — Deep Dive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C9D6E4"/>
                </a:solidFill>
                <a:latin typeface="Calibri"/>
              </a:rPr>
              <a:t>Skills are the agent's capabilities — and the description is the interface, not documentation.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B52E"/>
                </a:solidFill>
                <a:latin typeface="Calibri"/>
              </a:rPr>
              <a:t>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5 ·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5.1  Anatomy of a Skill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700" b="1">
                <a:solidFill>
                  <a:srgbClr val="F2622E"/>
                </a:solidFill>
                <a:latin typeface="Calibri"/>
              </a:rPr>
              <a:t>▪  </a:t>
            </a:r>
            <a:r>
              <a:rPr sz="1700" b="0" i="0">
                <a:solidFill>
                  <a:srgbClr val="212B36"/>
                </a:solidFill>
                <a:latin typeface="Calibri"/>
              </a:rPr>
              <a:t>Every skill has </a:t>
            </a:r>
            <a:r>
              <a:rPr sz="1700" b="1" i="0">
                <a:solidFill>
                  <a:srgbClr val="212B36"/>
                </a:solidFill>
                <a:latin typeface="Calibri"/>
              </a:rPr>
              <a:t>two halves: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5B6672"/>
                </a:solidFill>
                <a:latin typeface="Calibri"/>
              </a:rPr>
              <a:t>–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Metadata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— name, description, trigger conditions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5B6672"/>
                </a:solidFill>
                <a:latin typeface="Calibri"/>
              </a:rPr>
              <a:t>–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Execution logic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— the code that actually runs</a:t>
            </a:r>
          </a:p>
          <a:p>
            <a:pPr algn="l">
              <a:lnSpc>
                <a:spcPct val="104000"/>
              </a:lnSpc>
              <a:spcBef>
                <a:spcPts val="1600"/>
              </a:spcBef>
              <a:spcAft>
                <a:spcPts val="800"/>
              </a:spcAft>
            </a:pPr>
            <a:r>
              <a:rPr sz="1900" b="1" i="0">
                <a:solidFill>
                  <a:srgbClr val="F2622E"/>
                </a:solidFill>
                <a:latin typeface="Calibri"/>
              </a:rPr>
              <a:t>“The description is not documentation — it is </a:t>
            </a:r>
            <a:r>
              <a:rPr sz="1900" b="1" i="0">
                <a:solidFill>
                  <a:srgbClr val="F2622E"/>
                </a:solidFill>
                <a:latin typeface="Calibri"/>
              </a:rPr>
              <a:t>the interface the agent's tool-selection step reads</a:t>
            </a:r>
            <a:r>
              <a:rPr sz="1900" b="1" i="0">
                <a:solidFill>
                  <a:srgbClr val="F2622E"/>
                </a:solidFill>
                <a:latin typeface="Calibri"/>
              </a:rPr>
              <a:t>.”</a:t>
            </a:r>
          </a:p>
          <a:p>
            <a:pPr algn="l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</a:pPr>
            <a:r>
              <a:rPr sz="1450" b="0" i="1">
                <a:solidFill>
                  <a:srgbClr val="5B6672"/>
                </a:solidFill>
                <a:latin typeface="Calibri"/>
              </a:rPr>
              <a:t>If the description is wrong, the skill may never fire — no matter how good the code is.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5 ·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5.2  Writing for Discoverability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81328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FB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49377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A3321E"/>
                </a:solidFill>
                <a:latin typeface="Calibri"/>
              </a:rPr>
              <a:t>BAD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2000" b="1" i="0">
                <a:solidFill>
                  <a:srgbClr val="A3321E"/>
                </a:solidFill>
                <a:latin typeface="Calibri"/>
              </a:rPr>
              <a:t>“Handles data stuff”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r>
              <a:rPr sz="1350" b="0" i="0">
                <a:solidFill>
                  <a:srgbClr val="212B36"/>
                </a:solidFill>
                <a:latin typeface="Calibri"/>
              </a:rPr>
              <a:t>Vague descriptions cause </a:t>
            </a:r>
            <a:r>
              <a:rPr sz="1350" b="1" i="0">
                <a:solidFill>
                  <a:srgbClr val="212B36"/>
                </a:solidFill>
                <a:latin typeface="Calibri"/>
              </a:rPr>
              <a:t>missed or misfired</a:t>
            </a:r>
            <a:r>
              <a:rPr sz="1350" b="0" i="0">
                <a:solidFill>
                  <a:srgbClr val="212B36"/>
                </a:solidFill>
                <a:latin typeface="Calibri"/>
              </a:rPr>
              <a:t> skill invocations.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81328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E7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691640"/>
            <a:ext cx="49377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E5E3A"/>
                </a:solidFill>
                <a:latin typeface="Calibri"/>
              </a:rPr>
              <a:t>GOOD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1550" b="1" i="0">
                <a:solidFill>
                  <a:srgbClr val="1E5E3A"/>
                </a:solidFill>
                <a:latin typeface="Calibri"/>
              </a:rPr>
              <a:t>“Fetches current weather for a given city and date; use only when the user asks about weather conditions, not climate history.”</a:t>
            </a:r>
          </a:p>
          <a:p>
            <a:pPr algn="l">
              <a:lnSpc>
                <a:spcPct val="100000"/>
              </a:lnSpc>
              <a:spcBef>
                <a:spcPts val="800"/>
              </a:spcBef>
              <a:spcAft>
                <a:spcPts val="600"/>
              </a:spcAft>
            </a:pPr>
            <a:r>
              <a:rPr sz="1350" b="0" i="0">
                <a:solidFill>
                  <a:srgbClr val="212B36"/>
                </a:solidFill>
                <a:latin typeface="Calibri"/>
              </a:rPr>
              <a:t>Specific scope + explicit </a:t>
            </a:r>
            <a:r>
              <a:rPr sz="1350" b="1" i="0">
                <a:solidFill>
                  <a:srgbClr val="212B36"/>
                </a:solidFill>
                <a:latin typeface="Calibri"/>
              </a:rPr>
              <a:t>when-to-use / when-not-to-use</a:t>
            </a:r>
            <a:r>
              <a:rPr sz="1350" b="0" i="0">
                <a:solidFill>
                  <a:srgbClr val="212B36"/>
                </a:solidFill>
                <a:latin typeface="Calibri"/>
              </a:rPr>
              <a:t> boundaries.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069080"/>
            <a:ext cx="11201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Exercise: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critique 3–4 deliberately weak skill descriptions and rewrite them.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1450" b="0" i="0">
                <a:solidFill>
                  <a:srgbClr val="5B6672"/>
                </a:solidFill>
                <a:latin typeface="Calibri"/>
              </a:rPr>
              <a:t>A good description names the action, the inputs, and the boundaries of when it applies.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5 ·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5.3  Security Angle (OWASP Agentic Applications)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Sandboxing execution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— isolate skill code so a malicious or buggy skill can't escalate privileges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Input validation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— validate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agent-generated parameters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before execution (the model is an untrusted caller)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Output validation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— sanitize skill output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before it re-enters the agent's context / loop</a:t>
            </a:r>
          </a:p>
          <a:p>
            <a:pPr algn="l">
              <a:lnSpc>
                <a:spcPct val="104000"/>
              </a:lnSpc>
              <a:spcBef>
                <a:spcPts val="1200"/>
              </a:spcBef>
              <a:spcAft>
                <a:spcPts val="800"/>
              </a:spcAft>
            </a:pPr>
            <a:r>
              <a:rPr sz="1400" b="0" i="1">
                <a:solidFill>
                  <a:srgbClr val="5B6672"/>
                </a:solidFill>
                <a:latin typeface="Calibri"/>
              </a:rPr>
              <a:t>Reference: </a:t>
            </a:r>
            <a:r>
              <a:rPr sz="1400" b="1" i="1">
                <a:solidFill>
                  <a:srgbClr val="5B6672"/>
                </a:solidFill>
                <a:latin typeface="Calibri"/>
              </a:rPr>
              <a:t>OWASP Agentic Applications Cheat Sheet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5 ·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5.4  Hands-On Lab: Make It Fire (and Only When It Should)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1.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Write a simple skill (e.g. a unit converter) with a clear description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2.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Register it and confirm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correct invocation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on a matching prompt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3.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“Vague-ify” the description and re-test — observe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misfire / no-invoke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4.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Restore the description, add basic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input validation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, try an adversarial input — confirm rejection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5B52E"/>
                </a:solidFill>
                <a:latin typeface="Calibri"/>
              </a:rPr>
              <a:t>PART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Channel Integration — Messaging &amp; 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C9D6E4"/>
                </a:solidFill>
                <a:latin typeface="Calibri"/>
              </a:rPr>
              <a:t>Telegram, WhatsApp and voice: getting real users connected to your agents — and handling each channel's failure modes.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B52E"/>
                </a:solidFill>
                <a:latin typeface="Calibri"/>
              </a:rPr>
              <a:t>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6 ·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6.1  Messaging Channels: Telegram &amp; WhatsApp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50" b="1">
                <a:solidFill>
                  <a:srgbClr val="F2622E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Webhook vs long-polling ingestion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— how an inbound message becomes an event on the OpenClaw Redis Stream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50" b="1">
                <a:solidFill>
                  <a:srgbClr val="F2622E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Session mapping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— map chat / session ID → agent instance so multi-turn conversation state stays coherent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50" b="1">
                <a:solidFill>
                  <a:srgbClr val="F2622E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Channel-specific quirks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— message length limits, rich media (images, voice notes sent as files), delivery / read receipts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50" b="1">
                <a:solidFill>
                  <a:srgbClr val="F2622E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Rate limits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— both platforms throttle aggressively; send replies with retry / backoff</a:t>
            </a:r>
          </a:p>
          <a:p>
            <a:pPr algn="l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</a:pPr>
            <a:r>
              <a:rPr sz="1550" b="1">
                <a:solidFill>
                  <a:srgbClr val="F2622E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10243E"/>
                </a:solidFill>
                <a:latin typeface="Calibri"/>
              </a:rPr>
              <a:t>Demo:</a:t>
            </a:r>
            <a:r>
              <a:rPr sz="1550" b="0" i="0">
                <a:solidFill>
                  <a:srgbClr val="10243E"/>
                </a:solidFill>
                <a:latin typeface="Calibri"/>
              </a:rPr>
              <a:t> inbound Telegram message → OpenClaw agent → skill invocation → reply back to the same chat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6 ·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6.2  Voice Channels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Two integration patterns: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550" b="1">
                <a:solidFill>
                  <a:srgbClr val="5B6672"/>
                </a:solidFill>
                <a:latin typeface="Calibri"/>
              </a:rPr>
              <a:t>– 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Turn-based: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record → transcribe → agent → synthesize → play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550" b="1">
                <a:solidFill>
                  <a:srgbClr val="5B6672"/>
                </a:solidFill>
                <a:latin typeface="Calibri"/>
              </a:rPr>
              <a:t>– 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Streaming: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continuous ASR / TTS with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barge-in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support</a:t>
            </a:r>
          </a:p>
          <a:p>
            <a:pPr algn="l">
              <a:lnSpc>
                <a:spcPct val="104000"/>
              </a:lnSpc>
              <a:spcBef>
                <a:spcPts val="600"/>
              </a:spcBef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ASR / TTS sit outside Hermes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— transcription happens before the model call, synthesis after; the agent still reasons over text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Latency budget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— voice has a much tighter round-trip tolerance than messaging; this drives the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cloud vs NanoClaw-local inference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choice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Interruptions / barge-in and silence detection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— a UX problem, not just a technical one</a:t>
            </a:r>
          </a:p>
          <a:p>
            <a:pPr algn="l">
              <a:lnSpc>
                <a:spcPct val="104000"/>
              </a:lnSpc>
              <a:spcBef>
                <a:spcPts val="600"/>
              </a:spcBef>
              <a:spcAft>
                <a:spcPts val="800"/>
              </a:spcAft>
            </a:pPr>
            <a:r>
              <a:rPr sz="1500" b="1">
                <a:solidFill>
                  <a:srgbClr val="F2622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10243E"/>
                </a:solidFill>
                <a:latin typeface="Calibri"/>
              </a:rPr>
              <a:t>Demo / walkthrough:</a:t>
            </a:r>
            <a:r>
              <a:rPr sz="1500" b="0" i="0">
                <a:solidFill>
                  <a:srgbClr val="10243E"/>
                </a:solidFill>
                <a:latin typeface="Calibri"/>
              </a:rPr>
              <a:t> a short voice round-trip through the same OpenClaw agent from the messaging demo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6 ·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6.3  Channel Abstraction in OpenClaw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Channels are a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thin adapter layer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, not baked into agent logic — the agent shouldn't know if it's talking to Telegram, WhatsApp, or a mic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Normalize inbound events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(text, voice-transcribed-to-text, media) into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one internal message format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before they hit the Redis Stream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Intersection with heartbeats (Part 4):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the channel adapter itself needs liveness tracking — a dead webhook listener is as bad as a dead agent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6 ·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6.4  Hands-On Lab: Wire a Channel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1.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Wire one messaging channel (Telegram or WhatsApp sandbox / test account) to your Part 1 OpenClaw agent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2.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Send a message that triggers the Part 5 skill; confirm the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reply round-trips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correctly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3.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Discuss: what would need to change to add a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second channel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without touching agent logic?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5B52E"/>
                </a:solidFill>
                <a:latin typeface="Calibri"/>
              </a:rPr>
              <a:t>PART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A2A Setup — a One-of-its-Kind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C9D6E4"/>
                </a:solidFill>
                <a:latin typeface="Calibri"/>
              </a:rPr>
              <a:t>Designing a custom agent-to-agent protocol that is natively stream-based, heartbeat-aware and channel-agnostic.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B52E"/>
                </a:solidFill>
                <a:latin typeface="Calibri"/>
              </a:rPr>
              <a:t>60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7 · A2A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7.1  Why Not Just Use an Off-the-Shelf A2A Standard?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The emerging A2A landscape: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agent-card discovery, task-based request / response protocols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They assume infrastructure OpenClaw doesn't need: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HTTP-centric, synchronous request / response</a:t>
            </a:r>
          </a:p>
          <a:p>
            <a:pPr algn="l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</a:pPr>
            <a:r>
              <a:rPr sz="1700" b="1">
                <a:solidFill>
                  <a:srgbClr val="F2622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0243E"/>
                </a:solidFill>
                <a:latin typeface="Calibri"/>
              </a:rPr>
              <a:t>OpenClaw's differentiator: Redis Streams as the transport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Durable, replayable, multi-consumer messaging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for free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— most A2A protocols bolt this on top of plain HTTP</a:t>
            </a:r>
          </a:p>
          <a:p>
            <a:pPr algn="l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Design goal: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an A2A layer that is natively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stream-based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,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heartbeat-aware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(Part 4) and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channel-agnostic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(Part 6) — not a generic point-to-point RPC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7 · A2A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7.2  Anatomy of the Custom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50" b="1">
                <a:solidFill>
                  <a:srgbClr val="F2622E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Message envelope: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sender agent ID · recipient agent ID (or broadcast topic) · task ID · payload ·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correlation ID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for multi-turn task tracking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50" b="1">
                <a:solidFill>
                  <a:srgbClr val="F2622E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Stream topology: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one stream per agent inbox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vs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shared topic streams with consumer groups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550" b="1">
                <a:solidFill>
                  <a:srgbClr val="5B6672"/>
                </a:solidFill>
                <a:latin typeface="Calibri"/>
              </a:rPr>
              <a:t>– 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Fan-out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(broadcast to many agents) vs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fan-in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(many agents reporting to one orchestrator) trade-offs</a:t>
            </a:r>
          </a:p>
          <a:p>
            <a:pPr algn="l">
              <a:lnSpc>
                <a:spcPct val="104000"/>
              </a:lnSpc>
              <a:spcBef>
                <a:spcPts val="600"/>
              </a:spcBef>
              <a:spcAft>
                <a:spcPts val="800"/>
              </a:spcAft>
            </a:pPr>
            <a:r>
              <a:rPr sz="1550" b="1">
                <a:solidFill>
                  <a:srgbClr val="F2622E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Task lifecycle states: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proposed → accepted → in-progress → completed / failed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550" b="1">
                <a:solidFill>
                  <a:srgbClr val="5B6672"/>
                </a:solidFill>
                <a:latin typeface="Calibri"/>
              </a:rPr>
              <a:t>–  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Mirrored as stream entries — any consumer can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reconstruct task history from the stream itself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(replayability as a debugging feature)</a:t>
            </a:r>
          </a:p>
          <a:p>
            <a:pPr algn="l">
              <a:lnSpc>
                <a:spcPct val="104000"/>
              </a:lnSpc>
              <a:spcBef>
                <a:spcPts val="600"/>
              </a:spcBef>
              <a:spcAft>
                <a:spcPts val="800"/>
              </a:spcAft>
            </a:pPr>
            <a:r>
              <a:rPr sz="1550" b="1">
                <a:solidFill>
                  <a:srgbClr val="F2622E"/>
                </a:solidFill>
                <a:latin typeface="Calibri"/>
              </a:rPr>
              <a:t>▪  </a:t>
            </a:r>
            <a:r>
              <a:rPr sz="1550" b="1" i="0">
                <a:solidFill>
                  <a:srgbClr val="10243E"/>
                </a:solidFill>
                <a:latin typeface="Calibri"/>
              </a:rPr>
              <a:t>Key difference:</a:t>
            </a:r>
            <a:r>
              <a:rPr sz="1550" b="0" i="0">
                <a:solidFill>
                  <a:srgbClr val="10243E"/>
                </a:solidFill>
                <a:latin typeface="Calibri"/>
              </a:rPr>
              <a:t> typical A2A treats discovery &amp; negotiation as separate from transport; here they're </a:t>
            </a:r>
            <a:r>
              <a:rPr sz="1550" b="1" i="0">
                <a:solidFill>
                  <a:srgbClr val="10243E"/>
                </a:solidFill>
                <a:latin typeface="Calibri"/>
              </a:rPr>
              <a:t>unified — the stream itself is the source of truth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7 · A2A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7.3  Integrating Heartbeats and Skills into A2A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Reuse the Part 4 heartbeat stream as a capability-advertisement channel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The heartbeat payload includes which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skills (Part 5)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the agent currently has registered → the orchestrator's routing decision uses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one lookup instead of two</a:t>
            </a:r>
          </a:p>
          <a:p>
            <a:pPr algn="l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Routing logic: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Incoming task → match required skill → find agents advertising that skill → filter to agents with a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live heartbeat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→ dispatch</a:t>
            </a:r>
          </a:p>
          <a:p>
            <a:pPr algn="l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Failure handling unique to this design: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tasks live on a replayable stream, so a newly-spun-up agent (or a recovering NanoClaw device)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catches up on missed assignments by re-reading from its last acknowledged offset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PART 7 ·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7.4  Hands-On Lab: Kill, Restart, Resume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1.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Define the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message envelope schema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for the custom A2A protocol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2.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Implement a two-agent exchange: Agent A proposes a task; Agent B accepts and reports progress via stream entries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3.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Kill and restart Agent B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mid-task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— confirm it resumes from the stream rather than losing task state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50" b="1">
                <a:solidFill>
                  <a:srgbClr val="F2622E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4.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Discuss: what would break if you swapped this for a standard </a:t>
            </a:r>
            <a:r>
              <a:rPr sz="1650" b="1" i="0">
                <a:solidFill>
                  <a:srgbClr val="212B36"/>
                </a:solidFill>
                <a:latin typeface="Calibri"/>
              </a:rPr>
              <a:t>synchronous</a:t>
            </a:r>
            <a:r>
              <a:rPr sz="1650" b="0" i="0">
                <a:solidFill>
                  <a:srgbClr val="212B36"/>
                </a:solidFill>
                <a:latin typeface="Calibri"/>
              </a:rPr>
              <a:t> A2A protocol? What would you lose — and what would you gain?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20 MIN · TIES ALL 7 PARTS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Combined Lab: End-to-End Channel-to-Skill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11201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0">
                <a:solidFill>
                  <a:srgbClr val="212B36"/>
                </a:solidFill>
                <a:latin typeface="Calibri"/>
              </a:rPr>
              <a:t>Goal: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a message (or voice input) arrives over a real channel → routed via the custom A2A protocol to a NanoClaw edge agent running Hermes → invokes a registered skill — while the OpenClaw orchestrator only dispatches to agents with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healthy heartbeats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advertising the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right capability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31720"/>
            <a:ext cx="2011680" cy="731520"/>
          </a:xfrm>
          <a:prstGeom prst="roundRect">
            <a:avLst>
              <a:gd name="adj" fmla="val 14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Channel message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51176" y="2542032"/>
            <a:ext cx="274320" cy="274320"/>
          </a:xfrm>
          <a:prstGeom prst="rightArrow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43784" y="2331720"/>
            <a:ext cx="2011680" cy="731520"/>
          </a:xfrm>
          <a:prstGeom prst="roundRect">
            <a:avLst>
              <a:gd name="adj" fmla="val 14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A2A routing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92040" y="2542032"/>
            <a:ext cx="274320" cy="274320"/>
          </a:xfrm>
          <a:prstGeom prst="rightArrow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84648" y="2331720"/>
            <a:ext cx="2011680" cy="731520"/>
          </a:xfrm>
          <a:prstGeom prst="roundRect">
            <a:avLst>
              <a:gd name="adj" fmla="val 14000"/>
            </a:avLst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Healthy edge agent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32904" y="2542032"/>
            <a:ext cx="274320" cy="274320"/>
          </a:xfrm>
          <a:prstGeom prst="rightArrow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25512" y="2331720"/>
            <a:ext cx="2011680" cy="731520"/>
          </a:xfrm>
          <a:prstGeom prst="roundRect">
            <a:avLst>
              <a:gd name="adj" fmla="val 14000"/>
            </a:avLst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Skill invocation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573768" y="2542032"/>
            <a:ext cx="274320" cy="274320"/>
          </a:xfrm>
          <a:prstGeom prst="rightArrow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866376" y="2331720"/>
            <a:ext cx="2011680" cy="731520"/>
          </a:xfrm>
          <a:prstGeom prst="roundRect">
            <a:avLst>
              <a:gd name="adj" fmla="val 14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Reply on same channel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29000"/>
            <a:ext cx="11201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1.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Confirm your Part 6 channel-wired agent is the same NanoClaw + Hermes agent from Part 3 — with the Part 5 skill, Part 4 heartbeat producer and Part 7 A2A envelope handling in place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2.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Send a channel message that requires the skill to be invoked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3.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Orchestrator uses Part 7 routing (skill match + live heartbeat) to select and dispatch to the edge agent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4.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Simulate the edge agent going down mid-task — confirm the orchestrator reroutes / queues, and a recovering agent resumes from the stream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450" b="1">
                <a:solidFill>
                  <a:srgbClr val="F2622E"/>
                </a:solidFill>
                <a:latin typeface="Calibri"/>
              </a:rPr>
              <a:t>▪ 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5.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Discuss: how does replayability change “what happens to an in-flight task” — and how does that surface to the user over </a:t>
            </a:r>
            <a:r>
              <a:rPr sz="1450" b="1" i="0">
                <a:solidFill>
                  <a:srgbClr val="212B36"/>
                </a:solidFill>
                <a:latin typeface="Calibri"/>
              </a:rPr>
              <a:t>messaging vs voice</a:t>
            </a:r>
            <a:r>
              <a:rPr sz="1450" b="0" i="0">
                <a:solidFill>
                  <a:srgbClr val="212B36"/>
                </a:solidFill>
                <a:latin typeface="Calibri"/>
              </a:rPr>
              <a:t> differently?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Wrap-Up: The Seven-Layer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517904" cy="914400"/>
          </a:xfrm>
          <a:prstGeom prst="roundRect">
            <a:avLst>
              <a:gd name="adj" fmla="val 14000"/>
            </a:avLst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OpenClaw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8EEF5"/>
                </a:solidFill>
                <a:latin typeface="Calibri"/>
              </a:rPr>
              <a:t>orchestration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039112" y="1856231"/>
            <a:ext cx="146304" cy="256032"/>
          </a:xfrm>
          <a:prstGeom prst="rightArrow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57984" y="1554480"/>
            <a:ext cx="1517904" cy="914400"/>
          </a:xfrm>
          <a:prstGeom prst="roundRect">
            <a:avLst>
              <a:gd name="adj" fmla="val 14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Hermes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8EEF5"/>
                </a:solidFill>
                <a:latin typeface="Calibri"/>
              </a:rPr>
              <a:t>model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694176" y="1856231"/>
            <a:ext cx="146304" cy="256032"/>
          </a:xfrm>
          <a:prstGeom prst="rightArrow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813048" y="1554480"/>
            <a:ext cx="1517904" cy="914400"/>
          </a:xfrm>
          <a:prstGeom prst="roundRect">
            <a:avLst>
              <a:gd name="adj" fmla="val 14000"/>
            </a:avLst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NanoClaw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8EEF5"/>
                </a:solidFill>
                <a:latin typeface="Calibri"/>
              </a:rPr>
              <a:t>edge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49240" y="1856231"/>
            <a:ext cx="146304" cy="256032"/>
          </a:xfrm>
          <a:prstGeom prst="rightArrow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68112" y="1554480"/>
            <a:ext cx="1517904" cy="914400"/>
          </a:xfrm>
          <a:prstGeom prst="roundRect">
            <a:avLst>
              <a:gd name="adj" fmla="val 14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Heartbeats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8EEF5"/>
                </a:solidFill>
                <a:latin typeface="Calibri"/>
              </a:rPr>
              <a:t>trust in state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004304" y="1856231"/>
            <a:ext cx="146304" cy="256032"/>
          </a:xfrm>
          <a:prstGeom prst="rightArrow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23176" y="1554480"/>
            <a:ext cx="1517904" cy="914400"/>
          </a:xfrm>
          <a:prstGeom prst="roundRect">
            <a:avLst>
              <a:gd name="adj" fmla="val 14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Skills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8EEF5"/>
                </a:solidFill>
                <a:latin typeface="Calibri"/>
              </a:rPr>
              <a:t>trust in capability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59368" y="1856231"/>
            <a:ext cx="146304" cy="256032"/>
          </a:xfrm>
          <a:prstGeom prst="rightArrow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78240" y="1554480"/>
            <a:ext cx="1517904" cy="914400"/>
          </a:xfrm>
          <a:prstGeom prst="roundRect">
            <a:avLst>
              <a:gd name="adj" fmla="val 14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Channels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8EEF5"/>
                </a:solidFill>
                <a:latin typeface="Calibri"/>
              </a:rPr>
              <a:t>trust in delivery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0314432" y="1856231"/>
            <a:ext cx="146304" cy="256032"/>
          </a:xfrm>
          <a:prstGeom prst="rightArrow">
            <a:avLst/>
          </a:prstGeom>
          <a:solidFill>
            <a:srgbClr val="5B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433304" y="1554480"/>
            <a:ext cx="1517904" cy="914400"/>
          </a:xfrm>
          <a:prstGeom prst="roundRect">
            <a:avLst>
              <a:gd name="adj" fmla="val 14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Custom A2A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E8EEF5"/>
                </a:solidFill>
                <a:latin typeface="Calibri"/>
              </a:rPr>
              <a:t>trust in coordination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2880360"/>
            <a:ext cx="112014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>
                <a:solidFill>
                  <a:srgbClr val="F2622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12B36"/>
                </a:solidFill>
                <a:latin typeface="Calibri"/>
              </a:rPr>
              <a:t>Open Q&amp;A</a:t>
            </a:r>
          </a:p>
          <a:p>
            <a:pPr algn="l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sz="1700" b="1">
                <a:solidFill>
                  <a:srgbClr val="F2622E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212B36"/>
                </a:solidFill>
                <a:latin typeface="Calibri"/>
              </a:rPr>
              <a:t>Stretch topics for advanced learners:</a:t>
            </a:r>
          </a:p>
          <a:p>
            <a:pPr lvl="1"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A combined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health + capability registry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so orchestrator routing uses one signal instead of two (foreshadowed in 7.3)</a:t>
            </a:r>
          </a:p>
          <a:p>
            <a:pPr lvl="1"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Streaming voice with barge-in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as a follow-up deep dive</a:t>
            </a:r>
          </a:p>
          <a:p>
            <a:pPr lvl="1"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Benchmarking the custom A2A protocol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against a standard synchronous A2A implementation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Materials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Redis instance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(local or shared) — orchestration, heartbeat and A2A stream labs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NanoClaw device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or Pi-class emulation environment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Hermes model weights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— quantized build suitable for the edge demo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Starter OpenClaw agent scaffold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with Redis Streams + MCP pre-wired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3–4 deliberately weak skill descriptions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for the critique exercise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Telegram and/or WhatsApp sandbox / test account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with webhook access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Basic ASR / TTS setup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(cloud API or local model) for the voice demo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Reference: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OWASP Agentic Applications Cheat Sheet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Reference: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overview of at least one standard A2A protocol spec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(for the Part 7.1 comparison)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5B52E"/>
                </a:solidFill>
                <a:latin typeface="Calibri"/>
              </a:rPr>
              <a:t>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Technical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9875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C9D6E4"/>
                </a:solidFill>
                <a:latin typeface="Calibri"/>
              </a:rPr>
              <a:t>Configuring A2A + Hermes with LangGraph — implementation-level detail for learners who want to build past the guided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3484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B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5B52E"/>
                </a:solidFill>
                <a:latin typeface="Calibri"/>
              </a:rPr>
              <a:t>Instructor reference / handout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APPENDIX ·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A.1  Why LangGraph Fits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50" b="1">
                <a:solidFill>
                  <a:srgbClr val="F2622E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Each OpenClaw agent's internal reasoning loop —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receive task → call Hermes → optionally invoke a skill / tool → respond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— maps naturally onto a LangGraph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StateGraph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Nodes: “call model”, “invoke skill”, “await tool result”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Edges: conditional routing based on whether Hermes emitted a tool call</a:t>
            </a:r>
          </a:p>
          <a:p>
            <a:pPr algn="l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</a:pPr>
            <a:r>
              <a:rPr sz="1550" b="1">
                <a:solidFill>
                  <a:srgbClr val="F2622E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LangGraph's built-in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checkpointer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lines up with the Part 7.2 task lifecycle (proposed → accepted → in-progress → completed / failed)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A checkpoint after each node execution gives the same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replayability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benefit as reading task state back from the Redis Stream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APPENDIX ·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A.2  Wiring Hermes into a LangGraph Node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50" b="1">
                <a:solidFill>
                  <a:srgbClr val="F2622E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Hermes isn't a first-party LangChain / LangGraph integration → serve it behind an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OpenAI-compatible endpoint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(vLLM, or Ollama / TGI exposing `/v1/chat/completions`)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50" b="1">
                <a:solidFill>
                  <a:srgbClr val="F2622E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Bind it via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ChatOpenAI-style config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pointed at that local endpoint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50" b="1">
                <a:solidFill>
                  <a:srgbClr val="F2622E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Confirm Hermes' tool-calling output matches what LangGraph expects (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OpenAI-style `tool_calls`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) — this is the thing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most likely to need a translation shim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50" b="1">
                <a:solidFill>
                  <a:srgbClr val="F2622E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Bind Part 5 skills to the graph as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LangGraph tools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— the tool's `description` field is exactly the skill description from 5.2;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the same discoverability rules apply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APPENDIX ·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A.3  Connecting the Graph to the Redis Streams Transport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F2622E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B36"/>
                </a:solidFill>
                <a:latin typeface="Calibri"/>
              </a:rPr>
              <a:t>The graph handles </a:t>
            </a:r>
            <a:r>
              <a:rPr sz="1500" b="1" i="0">
                <a:solidFill>
                  <a:srgbClr val="212B36"/>
                </a:solidFill>
                <a:latin typeface="Calibri"/>
              </a:rPr>
              <a:t>a single agent's internal turn</a:t>
            </a:r>
            <a:r>
              <a:rPr sz="1500" b="0" i="0">
                <a:solidFill>
                  <a:srgbClr val="212B36"/>
                </a:solidFill>
                <a:latin typeface="Calibri"/>
              </a:rPr>
              <a:t>; the Part 7.2 envelope (sender, recipient, task ID, payload, correlation ID) becomes the </a:t>
            </a:r>
            <a:r>
              <a:rPr sz="1500" b="1" i="0">
                <a:solidFill>
                  <a:srgbClr val="212B36"/>
                </a:solidFill>
                <a:latin typeface="Calibri"/>
              </a:rPr>
              <a:t>input state</a:t>
            </a:r>
            <a:r>
              <a:rPr sz="1500" b="0" i="0">
                <a:solidFill>
                  <a:srgbClr val="212B36"/>
                </a:solidFill>
                <a:latin typeface="Calibri"/>
              </a:rPr>
              <a:t> that triggers a graph invocation, and the </a:t>
            </a:r>
            <a:r>
              <a:rPr sz="1500" b="1" i="0">
                <a:solidFill>
                  <a:srgbClr val="212B36"/>
                </a:solidFill>
                <a:latin typeface="Calibri"/>
              </a:rPr>
              <a:t>output state</a:t>
            </a:r>
            <a:r>
              <a:rPr sz="1500" b="0" i="0">
                <a:solidFill>
                  <a:srgbClr val="212B36"/>
                </a:solidFill>
                <a:latin typeface="Calibri"/>
              </a:rPr>
              <a:t> serialized back onto the outbound stream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F2622E"/>
                </a:solidFill>
                <a:latin typeface="Calibri"/>
              </a:rPr>
              <a:t>▪  </a:t>
            </a:r>
            <a:r>
              <a:rPr sz="1500" b="1" i="0">
                <a:solidFill>
                  <a:srgbClr val="212B36"/>
                </a:solidFill>
                <a:latin typeface="Calibri"/>
              </a:rPr>
              <a:t>Pattern:</a:t>
            </a:r>
            <a:r>
              <a:rPr sz="1500" b="0" i="0">
                <a:solidFill>
                  <a:srgbClr val="212B36"/>
                </a:solidFill>
                <a:latin typeface="Calibri"/>
              </a:rPr>
              <a:t> a thin consumer loop reads new entries from the agent's inbox stream → maps each to a LangGraph input state → invokes the graph → writes the result back as a new stream entry (status update or final response)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F2622E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B36"/>
                </a:solidFill>
                <a:latin typeface="Calibri"/>
              </a:rPr>
              <a:t>The graph </a:t>
            </a:r>
            <a:r>
              <a:rPr sz="1500" b="1" i="0">
                <a:solidFill>
                  <a:srgbClr val="212B36"/>
                </a:solidFill>
                <a:latin typeface="Calibri"/>
              </a:rPr>
              <a:t>doesn't need to know about Redis at all</a:t>
            </a:r>
            <a:r>
              <a:rPr sz="1500" b="0" i="0">
                <a:solidFill>
                  <a:srgbClr val="212B36"/>
                </a:solidFill>
                <a:latin typeface="Calibri"/>
              </a:rPr>
              <a:t> — the two concerns stay cleanly separated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00" b="1">
                <a:solidFill>
                  <a:srgbClr val="F2622E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B36"/>
                </a:solidFill>
                <a:latin typeface="Calibri"/>
              </a:rPr>
              <a:t>Use the checkpointer with a </a:t>
            </a:r>
            <a:r>
              <a:rPr sz="1500" b="1" i="0">
                <a:solidFill>
                  <a:srgbClr val="212B36"/>
                </a:solidFill>
                <a:latin typeface="Calibri"/>
              </a:rPr>
              <a:t>Redis-backed implementation</a:t>
            </a:r>
            <a:r>
              <a:rPr sz="1500" b="0" i="0">
                <a:solidFill>
                  <a:srgbClr val="212B36"/>
                </a:solidFill>
                <a:latin typeface="Calibri"/>
              </a:rPr>
              <a:t> so an in-progress task's graph state survives an agent restart — the 7.3 “recovering agent resumes from stream offset” behaviour now also resumes </a:t>
            </a:r>
            <a:r>
              <a:rPr sz="1500" b="1" i="0">
                <a:solidFill>
                  <a:srgbClr val="212B36"/>
                </a:solidFill>
                <a:latin typeface="Calibri"/>
              </a:rPr>
              <a:t>mid-graph-execution</a:t>
            </a:r>
            <a:r>
              <a:rPr sz="1500" b="0" i="0">
                <a:solidFill>
                  <a:srgbClr val="212B36"/>
                </a:solidFill>
                <a:latin typeface="Calibri"/>
              </a:rPr>
              <a:t>, not just mid-task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APPENDIX ·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A.4  Heartbeats &amp; Capability Advertisement from Inside the Graph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550" b="1">
                <a:solidFill>
                  <a:srgbClr val="F2622E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The graph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doesn't own the heartbeat loop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— keep heartbeat emission (Part 4) as a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separate lightweight process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alongside the graph consumer, not a graph node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It must keep beating even while the graph is mid-execution on a long task</a:t>
            </a:r>
          </a:p>
          <a:p>
            <a:pPr algn="l">
              <a:lnSpc>
                <a:spcPct val="104000"/>
              </a:lnSpc>
              <a:spcBef>
                <a:spcPts val="800"/>
              </a:spcBef>
              <a:spcAft>
                <a:spcPts val="800"/>
              </a:spcAft>
            </a:pPr>
            <a:r>
              <a:rPr sz="1550" b="1">
                <a:solidFill>
                  <a:srgbClr val="F2622E"/>
                </a:solidFill>
                <a:latin typeface="Calibri"/>
              </a:rPr>
              <a:t>▪  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The heartbeat process can </a:t>
            </a:r>
            <a:r>
              <a:rPr sz="1550" b="1" i="0">
                <a:solidFill>
                  <a:srgbClr val="212B36"/>
                </a:solidFill>
                <a:latin typeface="Calibri"/>
              </a:rPr>
              <a:t>introspect the graph's currently-bound tools</a:t>
            </a:r>
            <a:r>
              <a:rPr sz="1550" b="0" i="0">
                <a:solidFill>
                  <a:srgbClr val="212B36"/>
                </a:solidFill>
                <a:latin typeface="Calibri"/>
              </a:rPr>
              <a:t> to build the capability-advertisement payload from 7.3</a:t>
            </a:r>
          </a:p>
          <a:p>
            <a:pPr lvl="1"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5B6672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Skill registration stays a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single source of truth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(the graph's tool list) rather than a separately maintained config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0E7C7B"/>
                </a:solidFill>
                <a:latin typeface="Calibri"/>
              </a:rPr>
              <a:t>APPENDIX · LANGGRAPH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0243E"/>
                </a:solidFill>
                <a:latin typeface="Calibri"/>
              </a:rPr>
              <a:t>A.5  Suggested Demo / Lab Extension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170432"/>
            <a:ext cx="960120" cy="4064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9AA5B1"/>
                </a:solidFill>
                <a:latin typeface="Calibri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11201400" cy="489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1.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Stand up Hermes behind an OpenAI-compatible local endpoint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2.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Build a two-node LangGraph (model call → conditional tool invocation) using one Part 5 skill as a bound tool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3.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Wrap it with the thin Redis Streams consumer / producer loop from A.3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4.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Re-run the Part 7.4 kill-and-resume test — confirm the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LangGraph checkpoint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(not just the task ID) is what allows correct resumption</a:t>
            </a:r>
          </a:p>
          <a:p>
            <a:pPr algn="l">
              <a:lnSpc>
                <a:spcPct val="104000"/>
              </a:lnSpc>
              <a:spcAft>
                <a:spcPts val="800"/>
              </a:spcAft>
            </a:pPr>
            <a:r>
              <a:rPr sz="1600" b="1">
                <a:solidFill>
                  <a:srgbClr val="F2622E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5.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Compare latency / complexity against the </a:t>
            </a:r>
            <a:r>
              <a:rPr sz="1600" b="1" i="0">
                <a:solidFill>
                  <a:srgbClr val="212B36"/>
                </a:solidFill>
                <a:latin typeface="Calibri"/>
              </a:rPr>
              <a:t>framework-free</a:t>
            </a:r>
            <a:r>
              <a:rPr sz="1600" b="0" i="0">
                <a:solidFill>
                  <a:srgbClr val="212B36"/>
                </a:solidFill>
                <a:latin typeface="Calibri"/>
              </a:rPr>
              <a:t> agent loop built in the main Part 7 lab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38100"/>
          </a:xfrm>
          <a:prstGeom prst="rect">
            <a:avLst/>
          </a:prstGeom>
          <a:solidFill>
            <a:srgbClr val="F26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0">
                <a:solidFill>
                  <a:srgbClr val="C9D6E4"/>
                </a:solidFill>
                <a:latin typeface="Calibri"/>
              </a:rPr>
              <a:t>Take-home extensions: the four independent labs (heartbeat producer/consumer, skill critique-and-rewrite, channel wiring, A2A message envelope) + a follow-up review 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Building Autonomous AI Agents  |  OpenClaw · Hermes · NanoClaw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0" i="0">
                <a:solidFill>
                  <a:srgbClr val="7E93AD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